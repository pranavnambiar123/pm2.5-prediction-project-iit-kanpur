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b="def" i="def"/>
      <a:tcStyle>
        <a:tcBdr/>
        <a:fill>
          <a:solidFill>
            <a:srgbClr val="FFE8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b="def" i="def"/>
      <a:tcStyle>
        <a:tcBdr/>
        <a:fill>
          <a:solidFill>
            <a:srgbClr val="E9E9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b="def" i="def"/>
      <a:tcStyle>
        <a:tcBdr/>
        <a:fill>
          <a:solidFill>
            <a:srgbClr val="FFFFFF"/>
          </a:solidFill>
        </a:fill>
      </a:tcStyle>
    </a:band2H>
    <a:firstCol>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1" name="Body Level One…"/>
          <p:cNvSpPr txBox="1"/>
          <p:nvPr>
            <p:ph type="body" sz="quarter" idx="1" hasCustomPrompt="1"/>
          </p:nvPr>
        </p:nvSpPr>
        <p:spPr>
          <a:xfrm>
            <a:off x="1201340" y="11859862"/>
            <a:ext cx="21971004" cy="636980"/>
          </a:xfrm>
          <a:prstGeom prst="rect">
            <a:avLst/>
          </a:prstGeom>
        </p:spPr>
        <p:txBody>
          <a:bodyPr lIns="45718" tIns="45718" rIns="45718" bIns="45718" numCol="1" spcCol="38100"/>
          <a:lstStyle>
            <a:lvl1pPr marL="0" indent="0" defTabSz="825500">
              <a:lnSpc>
                <a:spcPct val="100000"/>
              </a:lnSpc>
              <a:spcBef>
                <a:spcPts val="0"/>
              </a:spcBef>
              <a:buSzTx/>
              <a:buNone/>
              <a:defRPr b="1" sz="3600"/>
            </a:lvl1pPr>
            <a:lvl2pPr marL="1066800" indent="-457200" defTabSz="825500">
              <a:lnSpc>
                <a:spcPct val="100000"/>
              </a:lnSpc>
              <a:spcBef>
                <a:spcPts val="0"/>
              </a:spcBef>
              <a:defRPr b="1" sz="3600"/>
            </a:lvl2pPr>
            <a:lvl3pPr marL="1676400" indent="-457200" defTabSz="825500">
              <a:lnSpc>
                <a:spcPct val="100000"/>
              </a:lnSpc>
              <a:spcBef>
                <a:spcPts val="0"/>
              </a:spcBef>
              <a:defRPr b="1" sz="3600"/>
            </a:lvl3pPr>
            <a:lvl4pPr marL="2286000" indent="-457200" defTabSz="825500">
              <a:lnSpc>
                <a:spcPct val="100000"/>
              </a:lnSpc>
              <a:spcBef>
                <a:spcPts val="0"/>
              </a:spcBef>
              <a:defRPr b="1" sz="3600"/>
            </a:lvl4pPr>
            <a:lvl5pPr marL="2895600" indent="-457200" defTabSz="825500">
              <a:lnSpc>
                <a:spcPct val="100000"/>
              </a:lnSpc>
              <a:spcBef>
                <a:spcPts val="0"/>
              </a:spcBef>
              <a:defRPr b="1" sz="3600"/>
            </a:lvl5pPr>
          </a:lstStyle>
          <a:p>
            <a:pPr/>
            <a:r>
              <a:t>Author and Date</a:t>
            </a:r>
          </a:p>
          <a:p>
            <a:pPr lvl="1"/>
            <a:r>
              <a:t/>
            </a:r>
          </a:p>
          <a:p>
            <a:pPr lvl="2"/>
            <a:r>
              <a:t/>
            </a:r>
          </a:p>
          <a:p>
            <a:pPr lvl="3"/>
            <a:r>
              <a:t/>
            </a:r>
          </a:p>
          <a:p>
            <a:pPr lvl="4"/>
            <a:r>
              <a:t/>
            </a:r>
          </a:p>
        </p:txBody>
      </p:sp>
      <p:sp>
        <p:nvSpPr>
          <p:cNvPr id="12" name="Presentation Title"/>
          <p:cNvSpPr txBox="1"/>
          <p:nvPr>
            <p:ph type="title" hasCustomPrompt="1"/>
          </p:nvPr>
        </p:nvSpPr>
        <p:spPr>
          <a:xfrm>
            <a:off x="1206496" y="2574991"/>
            <a:ext cx="21971005" cy="4648202"/>
          </a:xfrm>
          <a:prstGeom prst="rect">
            <a:avLst/>
          </a:prstGeom>
        </p:spPr>
        <p:txBody>
          <a:bodyPr anchor="b"/>
          <a:lstStyle>
            <a:lvl1pPr>
              <a:defRPr spc="-232" sz="11600"/>
            </a:lvl1pPr>
          </a:lstStyle>
          <a:p>
            <a:pPr/>
            <a:r>
              <a:t>Presentation Title</a:t>
            </a:r>
          </a:p>
        </p:txBody>
      </p:sp>
      <p:sp>
        <p:nvSpPr>
          <p:cNvPr id="13" name="Body Level One…"/>
          <p:cNvSpPr txBox="1"/>
          <p:nvPr>
            <p:ph type="body" sz="quarter" idx="21" hasCustomPrompt="1"/>
          </p:nvPr>
        </p:nvSpPr>
        <p:spPr>
          <a:xfrm>
            <a:off x="1201342" y="7223190"/>
            <a:ext cx="21971002" cy="1905002"/>
          </a:xfrm>
          <a:prstGeom prst="rect">
            <a:avLst/>
          </a:prstGeom>
        </p:spPr>
        <p:txBody>
          <a:bodyPr numCol="1" spcCol="38100"/>
          <a:lstStyle>
            <a:lvl1pPr marL="0" indent="0" defTabSz="825500">
              <a:lnSpc>
                <a:spcPct val="100000"/>
              </a:lnSpc>
              <a:spcBef>
                <a:spcPts val="0"/>
              </a:spcBef>
              <a:buSzTx/>
              <a:buNone/>
              <a:defRPr b="1" sz="5500"/>
            </a:lvl1pPr>
          </a:lstStyle>
          <a:p>
            <a:pPr/>
            <a:r>
              <a:t>Presentation Subtitle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numCol="1" spcCol="38100">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Body Level One…"/>
          <p:cNvSpPr txBox="1"/>
          <p:nvPr>
            <p:ph type="body" sz="quarter" idx="1" hasCustomPrompt="1"/>
          </p:nvPr>
        </p:nvSpPr>
        <p:spPr>
          <a:xfrm>
            <a:off x="1207690" y="1106137"/>
            <a:ext cx="21968621" cy="636980"/>
          </a:xfrm>
          <a:prstGeom prst="rect">
            <a:avLst/>
          </a:prstGeom>
        </p:spPr>
        <p:txBody>
          <a:bodyPr lIns="45718" tIns="45718" rIns="45718" bIns="45718" numCol="1" spcCol="38100"/>
          <a:lstStyle>
            <a:lvl1pPr marL="0" indent="0" defTabSz="825500">
              <a:lnSpc>
                <a:spcPct val="100000"/>
              </a:lnSpc>
              <a:spcBef>
                <a:spcPts val="0"/>
              </a:spcBef>
              <a:buSzTx/>
              <a:buNone/>
              <a:defRPr b="1" sz="3600"/>
            </a:lvl1pPr>
            <a:lvl2pPr marL="1066800" indent="-457200" defTabSz="825500">
              <a:lnSpc>
                <a:spcPct val="100000"/>
              </a:lnSpc>
              <a:spcBef>
                <a:spcPts val="0"/>
              </a:spcBef>
              <a:defRPr b="1" sz="3600"/>
            </a:lvl2pPr>
            <a:lvl3pPr marL="1676400" indent="-457200" defTabSz="825500">
              <a:lnSpc>
                <a:spcPct val="100000"/>
              </a:lnSpc>
              <a:spcBef>
                <a:spcPts val="0"/>
              </a:spcBef>
              <a:defRPr b="1" sz="3600"/>
            </a:lvl3pPr>
            <a:lvl4pPr marL="2286000" indent="-457200" defTabSz="825500">
              <a:lnSpc>
                <a:spcPct val="100000"/>
              </a:lnSpc>
              <a:spcBef>
                <a:spcPts val="0"/>
              </a:spcBef>
              <a:defRPr b="1" sz="3600"/>
            </a:lvl4pPr>
            <a:lvl5pPr marL="2895600" indent="-457200" defTabSz="825500">
              <a:lnSpc>
                <a:spcPct val="100000"/>
              </a:lnSpc>
              <a:spcBef>
                <a:spcPts val="0"/>
              </a:spcBef>
              <a:defRPr b="1" sz="3600"/>
            </a:lvl5pPr>
          </a:lstStyle>
          <a:p>
            <a:pPr/>
            <a:r>
              <a:t>Author and Date</a:t>
            </a:r>
          </a:p>
          <a:p>
            <a:pPr lvl="1"/>
            <a:r>
              <a:t/>
            </a:r>
          </a:p>
          <a:p>
            <a:pPr lvl="2"/>
            <a:r>
              <a:t/>
            </a:r>
          </a:p>
          <a:p>
            <a:pPr lvl="3"/>
            <a:r>
              <a:t/>
            </a:r>
          </a:p>
          <a:p>
            <a:pPr lvl="4"/>
            <a:r>
              <a:t/>
            </a:r>
          </a:p>
        </p:txBody>
      </p:sp>
      <p:sp>
        <p:nvSpPr>
          <p:cNvPr id="24" name="Body Level One…"/>
          <p:cNvSpPr txBox="1"/>
          <p:nvPr>
            <p:ph type="body" sz="quarter" idx="22" hasCustomPrompt="1"/>
          </p:nvPr>
        </p:nvSpPr>
        <p:spPr>
          <a:xfrm>
            <a:off x="1206500" y="11609909"/>
            <a:ext cx="21971000" cy="1116953"/>
          </a:xfrm>
          <a:prstGeom prst="rect">
            <a:avLst/>
          </a:prstGeom>
        </p:spPr>
        <p:txBody>
          <a:bodyPr numCol="1" spcCol="38100"/>
          <a:lstStyle>
            <a:lvl1pPr marL="0" indent="0" defTabSz="825500">
              <a:lnSpc>
                <a:spcPct val="100000"/>
              </a:lnSpc>
              <a:spcBef>
                <a:spcPts val="0"/>
              </a:spcBef>
              <a:buSzTx/>
              <a:buNone/>
              <a:defRPr b="1" sz="5500"/>
            </a:lvl1pPr>
          </a:lstStyle>
          <a:p>
            <a:pPr/>
            <a:r>
              <a:t>Presentation Subtitle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oumous"/>
          <p:cNvSpPr/>
          <p:nvPr>
            <p:ph type="pic" idx="21"/>
          </p:nvPr>
        </p:nvSpPr>
        <p:spPr>
          <a:xfrm>
            <a:off x="10972800" y="-203200"/>
            <a:ext cx="12144837" cy="14135100"/>
          </a:xfrm>
          <a:prstGeom prst="rect">
            <a:avLst/>
          </a:prstGeom>
        </p:spPr>
        <p:txBody>
          <a:bodyPr lIns="91439" tIns="45719" rIns="91439" bIns="45719" numCol="1" spcCol="38100">
            <a:noAutofit/>
          </a:bodyPr>
          <a:lstStyle/>
          <a:p>
            <a:pPr/>
          </a:p>
        </p:txBody>
      </p:sp>
      <p:sp>
        <p:nvSpPr>
          <p:cNvPr id="33" name="Slide Title"/>
          <p:cNvSpPr txBox="1"/>
          <p:nvPr>
            <p:ph type="title" hasCustomPrompt="1"/>
          </p:nvPr>
        </p:nvSpPr>
        <p:spPr>
          <a:xfrm>
            <a:off x="1206500" y="1270000"/>
            <a:ext cx="9779000" cy="5882274"/>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numCol="1" spcCol="38100"/>
          <a:lstStyle>
            <a:lvl1pPr marL="0" indent="0" defTabSz="825500">
              <a:lnSpc>
                <a:spcPct val="100000"/>
              </a:lnSpc>
              <a:spcBef>
                <a:spcPts val="0"/>
              </a:spcBef>
              <a:buSzTx/>
              <a:buNone/>
              <a:defRPr b="1" sz="5500"/>
            </a:lvl1pPr>
            <a:lvl2pPr marL="0" indent="0" defTabSz="825500">
              <a:lnSpc>
                <a:spcPct val="100000"/>
              </a:lnSpc>
              <a:spcBef>
                <a:spcPts val="0"/>
              </a:spcBef>
              <a:buSzTx/>
              <a:buNone/>
              <a:defRPr b="1" sz="5500"/>
            </a:lvl2pPr>
            <a:lvl3pPr marL="0" indent="0" defTabSz="825500">
              <a:lnSpc>
                <a:spcPct val="100000"/>
              </a:lnSpc>
              <a:spcBef>
                <a:spcPts val="0"/>
              </a:spcBef>
              <a:buSzTx/>
              <a:buNone/>
              <a:defRPr b="1" sz="5500"/>
            </a:lvl3pPr>
            <a:lvl4pPr marL="0" indent="0" defTabSz="825500">
              <a:lnSpc>
                <a:spcPct val="100000"/>
              </a:lnSpc>
              <a:spcBef>
                <a:spcPts val="0"/>
              </a:spcBef>
              <a:buSzTx/>
              <a:buNone/>
              <a:defRPr b="1" sz="5500"/>
            </a:lvl4pPr>
            <a:lvl5pPr marL="0" indent="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1206500" y="1079500"/>
            <a:ext cx="21971000" cy="1433164"/>
          </a:xfrm>
          <a:prstGeom prst="rect">
            <a:avLst/>
          </a:prstGeom>
        </p:spPr>
        <p:txBody>
          <a:bodyPr/>
          <a:lstStyle/>
          <a:p>
            <a:pPr/>
            <a:r>
              <a:t>Slide Title</a:t>
            </a:r>
          </a:p>
        </p:txBody>
      </p:sp>
      <p:sp>
        <p:nvSpPr>
          <p:cNvPr id="43" name="Body Level One…"/>
          <p:cNvSpPr txBox="1"/>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44" name="Body Level One…"/>
          <p:cNvSpPr txBox="1"/>
          <p:nvPr>
            <p:ph type="body" idx="21" hasCustomPrompt="1"/>
          </p:nvPr>
        </p:nvSpPr>
        <p:spPr>
          <a:prstGeom prst="rect">
            <a:avLst/>
          </a:prstGeom>
        </p:spPr>
        <p:txBody>
          <a:bodyPr numCol="1" spcCol="38100"/>
          <a:lstStyle/>
          <a:p>
            <a:pPr/>
            <a:r>
              <a:t>Slide bullet text</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Body Level One…"/>
          <p:cNvSpPr txBox="1"/>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61" name="Body Level One…"/>
          <p:cNvSpPr txBox="1"/>
          <p:nvPr>
            <p:ph type="body" sz="half" idx="21" hasCustomPrompt="1"/>
          </p:nvPr>
        </p:nvSpPr>
        <p:spPr>
          <a:xfrm>
            <a:off x="1206500" y="4248503"/>
            <a:ext cx="9779000" cy="8256631"/>
          </a:xfrm>
          <a:prstGeom prst="rect">
            <a:avLst/>
          </a:prstGeom>
        </p:spPr>
        <p:txBody>
          <a:bodyPr numCol="1" spcCol="38100"/>
          <a:lstStyle/>
          <a:p>
            <a:pPr/>
            <a:r>
              <a:t>Slide bullet text</a:t>
            </a:r>
          </a:p>
        </p:txBody>
      </p:sp>
      <p:sp>
        <p:nvSpPr>
          <p:cNvPr id="62" name="Bowl of pappardelle pasta with parsley butter, roasted hazelnuts and shaved parmesan cheese"/>
          <p:cNvSpPr/>
          <p:nvPr>
            <p:ph type="pic" idx="22"/>
          </p:nvPr>
        </p:nvSpPr>
        <p:spPr>
          <a:xfrm>
            <a:off x="12192000" y="-407266"/>
            <a:ext cx="10916874" cy="14555833"/>
          </a:xfrm>
          <a:prstGeom prst="rect">
            <a:avLst/>
          </a:prstGeom>
        </p:spPr>
        <p:txBody>
          <a:bodyPr lIns="91439" tIns="45719" rIns="91439" bIns="45719" numCol="1" spcCol="38100">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5"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50"/>
          </a:xfrm>
          <a:prstGeom prst="rect">
            <a:avLst/>
          </a:prstGeom>
        </p:spPr>
        <p:txBody>
          <a:bodyPr/>
          <a:lstStyle/>
          <a:p>
            <a:pPr/>
            <a:r>
              <a:t>Slide Title</a:t>
            </a:r>
          </a:p>
        </p:txBody>
      </p:sp>
      <p:sp>
        <p:nvSpPr>
          <p:cNvPr id="80" name="Body Level One…"/>
          <p:cNvSpPr txBox="1"/>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Body Level One…"/>
          <p:cNvSpPr txBox="1"/>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Agenda Subtitle</a:t>
            </a:r>
          </a:p>
          <a:p>
            <a:pPr lvl="1"/>
            <a:r>
              <a:t/>
            </a:r>
          </a:p>
          <a:p>
            <a:pPr lvl="2"/>
            <a:r>
              <a:t/>
            </a:r>
          </a:p>
          <a:p>
            <a:pPr lvl="3"/>
            <a:r>
              <a:t/>
            </a:r>
          </a:p>
          <a:p>
            <a:pPr lvl="4"/>
            <a:r>
              <a:t/>
            </a:r>
          </a:p>
        </p:txBody>
      </p:sp>
      <p:sp>
        <p:nvSpPr>
          <p:cNvPr id="90" name="Body Level One…"/>
          <p:cNvSpPr txBox="1"/>
          <p:nvPr>
            <p:ph type="body" idx="21" hasCustomPrompt="1"/>
          </p:nvPr>
        </p:nvSpPr>
        <p:spPr>
          <a:prstGeom prst="rect">
            <a:avLst/>
          </a:prstGeom>
        </p:spPr>
        <p:txBody>
          <a:bodyPr numCol="1" spcCol="38100"/>
          <a:lstStyle>
            <a:lvl1pPr marL="0" indent="0" defTabSz="825500">
              <a:lnSpc>
                <a:spcPct val="100000"/>
              </a:lnSpc>
              <a:spcBef>
                <a:spcPts val="1800"/>
              </a:spcBef>
              <a:buSzTx/>
              <a:buNone/>
              <a:defRPr spc="-99" sz="5500"/>
            </a:lvl1pPr>
          </a:lstStyle>
          <a:p>
            <a:pPr/>
            <a:r>
              <a:t>Agenda Topics</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numCol="1" spcCol="38100"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6"/>
            <a:ext cx="21971000" cy="7241586"/>
          </a:xfrm>
          <a:prstGeom prst="rect">
            <a:avLst/>
          </a:prstGeom>
        </p:spPr>
        <p:txBody>
          <a:bodyPr numCol="1" spcCol="38100" anchor="b"/>
          <a:lstStyle>
            <a:lvl1pPr marL="0" indent="0" algn="ctr">
              <a:lnSpc>
                <a:spcPct val="80000"/>
              </a:lnSpc>
              <a:spcBef>
                <a:spcPts val="0"/>
              </a:spcBef>
              <a:buSzTx/>
              <a:buNone/>
              <a:defRPr b="1" spc="-250" sz="25000"/>
            </a:lvl1pPr>
            <a:lvl2pPr marL="0" indent="0" algn="ctr">
              <a:lnSpc>
                <a:spcPct val="80000"/>
              </a:lnSpc>
              <a:spcBef>
                <a:spcPts val="0"/>
              </a:spcBef>
              <a:buSzTx/>
              <a:buNone/>
              <a:defRPr b="1" spc="-250" sz="25000"/>
            </a:lvl2pPr>
            <a:lvl3pPr marL="0" indent="0" algn="ctr">
              <a:lnSpc>
                <a:spcPct val="80000"/>
              </a:lnSpc>
              <a:spcBef>
                <a:spcPts val="0"/>
              </a:spcBef>
              <a:buSzTx/>
              <a:buNone/>
              <a:defRPr b="1" spc="-250" sz="25000"/>
            </a:lvl3pPr>
            <a:lvl4pPr marL="0" indent="0" algn="ctr">
              <a:lnSpc>
                <a:spcPct val="80000"/>
              </a:lnSpc>
              <a:spcBef>
                <a:spcPts val="0"/>
              </a:spcBef>
              <a:buSzTx/>
              <a:buNone/>
              <a:defRPr b="1" spc="-250" sz="25000"/>
            </a:lvl4pPr>
            <a:lvl5pPr marL="0" indent="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8" tIns="45718" rIns="45718" bIns="45718" numCol="1" spcCol="38100"/>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Body Level One…"/>
          <p:cNvSpPr txBox="1"/>
          <p:nvPr>
            <p:ph type="body" sz="quarter" idx="1" hasCustomPrompt="1"/>
          </p:nvPr>
        </p:nvSpPr>
        <p:spPr>
          <a:xfrm>
            <a:off x="2430024" y="10675453"/>
            <a:ext cx="20200054" cy="636980"/>
          </a:xfrm>
          <a:prstGeom prst="rect">
            <a:avLst/>
          </a:prstGeom>
        </p:spPr>
        <p:txBody>
          <a:bodyPr lIns="45718" tIns="45718" rIns="45718" bIns="45718" numCol="1" spcCol="38100"/>
          <a:lstStyle>
            <a:lvl1pPr marL="0" indent="0" defTabSz="825500">
              <a:lnSpc>
                <a:spcPct val="100000"/>
              </a:lnSpc>
              <a:spcBef>
                <a:spcPts val="0"/>
              </a:spcBef>
              <a:buSzTx/>
              <a:buNone/>
              <a:defRPr b="1" sz="3600"/>
            </a:lvl1pPr>
            <a:lvl2pPr marL="1066800" indent="-457200" defTabSz="825500">
              <a:lnSpc>
                <a:spcPct val="100000"/>
              </a:lnSpc>
              <a:spcBef>
                <a:spcPts val="0"/>
              </a:spcBef>
              <a:defRPr b="1" sz="3600"/>
            </a:lvl2pPr>
            <a:lvl3pPr marL="1676400" indent="-457200" defTabSz="825500">
              <a:lnSpc>
                <a:spcPct val="100000"/>
              </a:lnSpc>
              <a:spcBef>
                <a:spcPts val="0"/>
              </a:spcBef>
              <a:defRPr b="1" sz="3600"/>
            </a:lvl3pPr>
            <a:lvl4pPr marL="2286000" indent="-457200" defTabSz="825500">
              <a:lnSpc>
                <a:spcPct val="100000"/>
              </a:lnSpc>
              <a:spcBef>
                <a:spcPts val="0"/>
              </a:spcBef>
              <a:defRPr b="1" sz="3600"/>
            </a:lvl4pPr>
            <a:lvl5pPr marL="2895600" indent="-457200" defTabSz="825500">
              <a:lnSpc>
                <a:spcPct val="100000"/>
              </a:lnSpc>
              <a:spcBef>
                <a:spcPts val="0"/>
              </a:spcBef>
              <a:defRPr b="1" sz="3600"/>
            </a:lvl5pPr>
          </a:lstStyle>
          <a:p>
            <a:pPr/>
            <a:r>
              <a:t>Attribution</a:t>
            </a:r>
          </a:p>
          <a:p>
            <a:pPr lvl="1"/>
            <a:r>
              <a:t/>
            </a:r>
          </a:p>
          <a:p>
            <a:pPr lvl="2"/>
            <a:r>
              <a:t/>
            </a:r>
          </a:p>
          <a:p>
            <a:pPr lvl="3"/>
            <a:r>
              <a:t/>
            </a:r>
          </a:p>
          <a:p>
            <a:pPr lvl="4"/>
            <a:r>
              <a:t/>
            </a:r>
          </a:p>
        </p:txBody>
      </p:sp>
      <p:sp>
        <p:nvSpPr>
          <p:cNvPr id="116" name="Body Level One…"/>
          <p:cNvSpPr txBox="1"/>
          <p:nvPr>
            <p:ph type="body" sz="half" idx="21" hasCustomPrompt="1"/>
          </p:nvPr>
        </p:nvSpPr>
        <p:spPr>
          <a:xfrm>
            <a:off x="1753923" y="4939860"/>
            <a:ext cx="20876154" cy="3836281"/>
          </a:xfrm>
          <a:prstGeom prst="rect">
            <a:avLst/>
          </a:prstGeom>
        </p:spPr>
        <p:txBody>
          <a:bodyPr numCol="1" spcCol="38100"/>
          <a:lstStyle>
            <a:lvl1pPr marL="469900" indent="-300876">
              <a:spcBef>
                <a:spcPts val="0"/>
              </a:spcBef>
              <a:buSzTx/>
              <a:buNone/>
              <a:defRPr spc="-200" sz="8500">
                <a:latin typeface="Helvetica Neue Medium"/>
                <a:ea typeface="Helvetica Neue Medium"/>
                <a:cs typeface="Helvetica Neue Medium"/>
                <a:sym typeface="Helvetica Neue Medium"/>
              </a:defRPr>
            </a:lvl1pPr>
          </a:lstStyle>
          <a:p>
            <a:pPr/>
            <a:r>
              <a:t>“Notable Quote”</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numCol="1" spcCol="38100">
            <a:noAutofit/>
          </a:bodyPr>
          <a:lstStyle/>
          <a:p>
            <a:pPr/>
          </a:p>
        </p:txBody>
      </p:sp>
      <p:sp>
        <p:nvSpPr>
          <p:cNvPr id="125" name="Bowl with salmon cakes, salad and houmous "/>
          <p:cNvSpPr/>
          <p:nvPr>
            <p:ph type="pic" sz="half" idx="22"/>
          </p:nvPr>
        </p:nvSpPr>
        <p:spPr>
          <a:xfrm>
            <a:off x="13500100" y="3978275"/>
            <a:ext cx="10439400" cy="12150181"/>
          </a:xfrm>
          <a:prstGeom prst="rect">
            <a:avLst/>
          </a:prstGeom>
        </p:spPr>
        <p:txBody>
          <a:bodyPr lIns="91439" tIns="45719" rIns="91439" bIns="45719" numCol="1" spcCol="38100">
            <a:noAutofit/>
          </a:bodyPr>
          <a:lstStyle/>
          <a:p>
            <a:pPr/>
          </a:p>
        </p:txBody>
      </p:sp>
      <p:sp>
        <p:nvSpPr>
          <p:cNvPr id="12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numCol="1" spcCol="38100">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bowl of salad with fried rice, boiled eggs and chopsticks"/>
          <p:cNvSpPr/>
          <p:nvPr>
            <p:ph type="pic" idx="21"/>
          </p:nvPr>
        </p:nvSpPr>
        <p:spPr>
          <a:xfrm>
            <a:off x="-1333500" y="-5524500"/>
            <a:ext cx="27051000" cy="21640800"/>
          </a:xfrm>
          <a:prstGeom prst="rect">
            <a:avLst/>
          </a:prstGeom>
        </p:spPr>
        <p:txBody>
          <a:bodyPr lIns="91439" tIns="45719" rIns="91439" bIns="45719" numCol="1" spcCol="38100">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206500" y="4248503"/>
            <a:ext cx="21971000" cy="82560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numCol="2" spcCol="1098550">
            <a:normAutofit fontScale="100000" lnSpcReduction="0"/>
          </a:bodyPr>
          <a:lstStyle/>
          <a:p>
            <a:pPr/>
            <a:r>
              <a:t>Slide bullet text</a:t>
            </a:r>
          </a:p>
          <a:p>
            <a:pPr lvl="1"/>
            <a:r>
              <a:t/>
            </a:r>
          </a:p>
          <a:p>
            <a:pPr lvl="2"/>
            <a:r>
              <a:t/>
            </a:r>
          </a:p>
          <a:p>
            <a:pPr lvl="3"/>
            <a:r>
              <a:t/>
            </a:r>
          </a:p>
          <a:p>
            <a:pPr lvl="4"/>
            <a:r>
              <a:t/>
            </a:r>
          </a:p>
        </p:txBody>
      </p:sp>
      <p:sp>
        <p:nvSpPr>
          <p:cNvPr id="3" name="Title Text"/>
          <p:cNvSpPr txBox="1"/>
          <p:nvPr>
            <p:ph type="title"/>
          </p:nvPr>
        </p:nvSpPr>
        <p:spPr>
          <a:xfrm>
            <a:off x="3653366" y="2743200"/>
            <a:ext cx="19507201" cy="15053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Title Text</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j-lt"/>
          <a:ea typeface="+mj-ea"/>
          <a:cs typeface="+mj-cs"/>
          <a:sym typeface="Helvetica Neue"/>
        </a:defRPr>
      </a:lvl1pPr>
      <a:lvl2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j-lt"/>
          <a:ea typeface="+mj-ea"/>
          <a:cs typeface="+mj-cs"/>
          <a:sym typeface="Helvetica Neue"/>
        </a:defRPr>
      </a:lvl2pPr>
      <a:lvl3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j-lt"/>
          <a:ea typeface="+mj-ea"/>
          <a:cs typeface="+mj-cs"/>
          <a:sym typeface="Helvetica Neue"/>
        </a:defRPr>
      </a:lvl3pPr>
      <a:lvl4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j-lt"/>
          <a:ea typeface="+mj-ea"/>
          <a:cs typeface="+mj-cs"/>
          <a:sym typeface="Helvetica Neue"/>
        </a:defRPr>
      </a:lvl4pPr>
      <a:lvl5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j-lt"/>
          <a:ea typeface="+mj-ea"/>
          <a:cs typeface="+mj-cs"/>
          <a:sym typeface="Helvetica Neue"/>
        </a:defRPr>
      </a:lvl5pPr>
      <a:lvl6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j-lt"/>
          <a:ea typeface="+mj-ea"/>
          <a:cs typeface="+mj-cs"/>
          <a:sym typeface="Helvetica Neue"/>
        </a:defRPr>
      </a:lvl6pPr>
      <a:lvl7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j-lt"/>
          <a:ea typeface="+mj-ea"/>
          <a:cs typeface="+mj-cs"/>
          <a:sym typeface="Helvetica Neue"/>
        </a:defRPr>
      </a:lvl7pPr>
      <a:lvl8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j-lt"/>
          <a:ea typeface="+mj-ea"/>
          <a:cs typeface="+mj-cs"/>
          <a:sym typeface="Helvetica Neue"/>
        </a:defRPr>
      </a:lvl8pPr>
      <a:lvl9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j-lt"/>
          <a:ea typeface="+mj-ea"/>
          <a:cs typeface="+mj-cs"/>
          <a:sym typeface="Helvetica Neue"/>
        </a:defRPr>
      </a:lvl9pPr>
    </p:titleStyle>
    <p:bodyStyle>
      <a:lvl1pPr marL="6096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j-lt"/>
          <a:ea typeface="+mj-ea"/>
          <a:cs typeface="+mj-cs"/>
          <a:sym typeface="Helvetica Neue"/>
        </a:defRPr>
      </a:lvl1pPr>
      <a:lvl2pPr marL="12192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j-lt"/>
          <a:ea typeface="+mj-ea"/>
          <a:cs typeface="+mj-cs"/>
          <a:sym typeface="Helvetica Neue"/>
        </a:defRPr>
      </a:lvl2pPr>
      <a:lvl3pPr marL="18288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j-lt"/>
          <a:ea typeface="+mj-ea"/>
          <a:cs typeface="+mj-cs"/>
          <a:sym typeface="Helvetica Neue"/>
        </a:defRPr>
      </a:lvl3pPr>
      <a:lvl4pPr marL="24384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j-lt"/>
          <a:ea typeface="+mj-ea"/>
          <a:cs typeface="+mj-cs"/>
          <a:sym typeface="Helvetica Neue"/>
        </a:defRPr>
      </a:lvl4pPr>
      <a:lvl5pPr marL="30480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j-lt"/>
          <a:ea typeface="+mj-ea"/>
          <a:cs typeface="+mj-cs"/>
          <a:sym typeface="Helvetica Neue"/>
        </a:defRPr>
      </a:lvl5pPr>
      <a:lvl6pPr marL="36576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j-lt"/>
          <a:ea typeface="+mj-ea"/>
          <a:cs typeface="+mj-cs"/>
          <a:sym typeface="Helvetica Neue"/>
        </a:defRPr>
      </a:lvl6pPr>
      <a:lvl7pPr marL="42672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j-lt"/>
          <a:ea typeface="+mj-ea"/>
          <a:cs typeface="+mj-cs"/>
          <a:sym typeface="Helvetica Neue"/>
        </a:defRPr>
      </a:lvl7pPr>
      <a:lvl8pPr marL="48768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j-lt"/>
          <a:ea typeface="+mj-ea"/>
          <a:cs typeface="+mj-cs"/>
          <a:sym typeface="Helvetica Neue"/>
        </a:defRPr>
      </a:lvl8pPr>
      <a:lvl9pPr marL="54864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j-lt"/>
          <a:ea typeface="+mj-ea"/>
          <a:cs typeface="+mj-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PranavNambiar123/PM2.5-Prediction-Project-IIT-Kanpur"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PM2.5 prediction"/>
          <p:cNvSpPr txBox="1"/>
          <p:nvPr>
            <p:ph type="title"/>
          </p:nvPr>
        </p:nvSpPr>
        <p:spPr>
          <a:xfrm>
            <a:off x="1206495" y="2574991"/>
            <a:ext cx="21971006" cy="4648202"/>
          </a:xfrm>
          <a:prstGeom prst="rect">
            <a:avLst/>
          </a:prstGeom>
        </p:spPr>
        <p:txBody>
          <a:bodyPr/>
          <a:lstStyle>
            <a:lvl1pPr algn="ctr" defTabSz="914400">
              <a:lnSpc>
                <a:spcPct val="90000"/>
              </a:lnSpc>
              <a:defRPr b="0" spc="0" sz="6000">
                <a:latin typeface="Aptos Display"/>
                <a:ea typeface="Aptos Display"/>
                <a:cs typeface="Aptos Display"/>
                <a:sym typeface="Aptos Display"/>
              </a:defRPr>
            </a:lvl1pPr>
          </a:lstStyle>
          <a:p>
            <a:pPr/>
            <a:r>
              <a:t>PM2.5 prediction</a:t>
            </a:r>
          </a:p>
        </p:txBody>
      </p:sp>
      <p:sp>
        <p:nvSpPr>
          <p:cNvPr id="152" name="- Pranav Nambiar"/>
          <p:cNvSpPr txBox="1"/>
          <p:nvPr>
            <p:ph type="body" sz="quarter" idx="1"/>
          </p:nvPr>
        </p:nvSpPr>
        <p:spPr>
          <a:xfrm>
            <a:off x="1201342" y="7223190"/>
            <a:ext cx="21971002" cy="1905002"/>
          </a:xfrm>
          <a:prstGeom prst="rect">
            <a:avLst/>
          </a:prstGeom>
        </p:spPr>
        <p:txBody>
          <a:bodyPr lIns="50800" tIns="50800" rIns="50800" bIns="50800"/>
          <a:lstStyle>
            <a:lvl1pPr algn="ctr" defTabSz="914400">
              <a:lnSpc>
                <a:spcPct val="90000"/>
              </a:lnSpc>
              <a:spcBef>
                <a:spcPts val="1000"/>
              </a:spcBef>
              <a:defRPr b="0" sz="2400">
                <a:latin typeface="Aptos"/>
                <a:ea typeface="Aptos"/>
                <a:cs typeface="Aptos"/>
                <a:sym typeface="Aptos"/>
              </a:defRPr>
            </a:lvl1pPr>
          </a:lstStyle>
          <a:p>
            <a:pPr/>
            <a:r>
              <a:t>- Pranav Nambiar</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Details"/>
          <p:cNvSpPr txBox="1"/>
          <p:nvPr>
            <p:ph type="title"/>
          </p:nvPr>
        </p:nvSpPr>
        <p:spPr>
          <a:prstGeom prst="rect">
            <a:avLst/>
          </a:prstGeom>
        </p:spPr>
        <p:txBody>
          <a:bodyPr/>
          <a:lstStyle>
            <a:lvl1pPr defTabSz="914400">
              <a:lnSpc>
                <a:spcPct val="90000"/>
              </a:lnSpc>
              <a:defRPr b="0" spc="0" sz="5400">
                <a:latin typeface="Aptos Display"/>
                <a:ea typeface="Aptos Display"/>
                <a:cs typeface="Aptos Display"/>
                <a:sym typeface="Aptos Display"/>
              </a:defRPr>
            </a:lvl1pPr>
          </a:lstStyle>
          <a:p>
            <a:pPr/>
            <a:r>
              <a:t>Details</a:t>
            </a:r>
          </a:p>
        </p:txBody>
      </p:sp>
      <p:sp>
        <p:nvSpPr>
          <p:cNvPr id="155" name="Github: https://github.com/PranavNambiar123/PM2.5-Prediction-Project-IIT-Kanpur…"/>
          <p:cNvSpPr txBox="1"/>
          <p:nvPr>
            <p:ph type="body" idx="1"/>
          </p:nvPr>
        </p:nvSpPr>
        <p:spPr>
          <a:xfrm>
            <a:off x="574668" y="3640073"/>
            <a:ext cx="21971001" cy="8256014"/>
          </a:xfrm>
          <a:prstGeom prst="rect">
            <a:avLst/>
          </a:prstGeom>
        </p:spPr>
        <p:txBody>
          <a:bodyPr lIns="50800" tIns="50800" rIns="50800" bIns="50800"/>
          <a:lstStyle/>
          <a:p>
            <a:pPr marL="228600" indent="-228600" defTabSz="914400">
              <a:lnSpc>
                <a:spcPct val="90000"/>
              </a:lnSpc>
              <a:spcBef>
                <a:spcPts val="1000"/>
              </a:spcBef>
              <a:buSzPct val="100000"/>
              <a:buFont typeface="Arial"/>
              <a:buChar char="•"/>
              <a:defRPr b="0" sz="3600" u="sng">
                <a:solidFill>
                  <a:srgbClr val="467886"/>
                </a:solidFill>
                <a:uFill>
                  <a:solidFill>
                    <a:srgbClr val="467886"/>
                  </a:solidFill>
                </a:uFill>
                <a:latin typeface="Aptos"/>
                <a:ea typeface="Aptos"/>
                <a:cs typeface="Aptos"/>
                <a:sym typeface="Aptos"/>
              </a:defRPr>
            </a:pPr>
            <a:r>
              <a:rPr>
                <a:solidFill>
                  <a:srgbClr val="0000FF"/>
                </a:solidFill>
                <a:uFill>
                  <a:solidFill>
                    <a:srgbClr val="0000FF"/>
                  </a:solidFill>
                </a:uFill>
                <a:hlinkClick r:id="rId2" invalidUrl="" action="" tgtFrame="" tooltip="" history="1" highlightClick="0" endSnd="0"/>
              </a:rPr>
              <a:t>Github</a:t>
            </a:r>
            <a:r>
              <a:rPr>
                <a:solidFill>
                  <a:srgbClr val="0000FF"/>
                </a:solidFill>
                <a:uFill>
                  <a:solidFill>
                    <a:srgbClr val="0000FF"/>
                  </a:solidFill>
                </a:uFill>
                <a:hlinkClick r:id="rId2" invalidUrl="" action="" tgtFrame="" tooltip="" history="1" highlightClick="0" endSnd="0"/>
              </a:rPr>
              <a:t>: https://github.com/PranavNambiar123/PM2.5-Prediction-Project-IIT-Kanpur</a:t>
            </a:r>
          </a:p>
          <a:p>
            <a:pPr marL="228600" indent="-228600" defTabSz="914400">
              <a:lnSpc>
                <a:spcPct val="90000"/>
              </a:lnSpc>
              <a:spcBef>
                <a:spcPts val="1000"/>
              </a:spcBef>
              <a:buSzPct val="100000"/>
              <a:buFont typeface="Arial"/>
              <a:buChar char="•"/>
              <a:defRPr b="0" sz="3600">
                <a:latin typeface="Aptos"/>
                <a:ea typeface="Aptos"/>
                <a:cs typeface="Aptos"/>
                <a:sym typeface="Aptos"/>
              </a:defRPr>
            </a:pPr>
            <a:r>
              <a:t>Roll number: 233562458</a:t>
            </a:r>
          </a:p>
          <a:p>
            <a:pPr marL="228600" indent="-228600" defTabSz="914400">
              <a:lnSpc>
                <a:spcPct val="90000"/>
              </a:lnSpc>
              <a:spcBef>
                <a:spcPts val="1000"/>
              </a:spcBef>
              <a:buSzPct val="100000"/>
              <a:buFont typeface="Arial"/>
              <a:buChar char="•"/>
              <a:defRPr b="0" sz="3600">
                <a:latin typeface="Aptos"/>
                <a:ea typeface="Aptos"/>
                <a:cs typeface="Aptos"/>
                <a:sym typeface="Aptos"/>
              </a:defRPr>
            </a:pPr>
            <a:r>
              <a:t>IITK email: nambiarpv23@iitk.ac.in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Previously"/>
          <p:cNvSpPr txBox="1"/>
          <p:nvPr>
            <p:ph type="title"/>
          </p:nvPr>
        </p:nvSpPr>
        <p:spPr>
          <a:prstGeom prst="rect">
            <a:avLst/>
          </a:prstGeom>
        </p:spPr>
        <p:txBody>
          <a:bodyPr/>
          <a:lstStyle>
            <a:lvl1pPr>
              <a:defRPr spc="-200"/>
            </a:lvl1pPr>
          </a:lstStyle>
          <a:p>
            <a:pPr/>
            <a:r>
              <a:t>Previously</a:t>
            </a:r>
          </a:p>
        </p:txBody>
      </p:sp>
      <p:sp>
        <p:nvSpPr>
          <p:cNvPr id="158" name="We cleaned data using different cleaning methods: linear interpolation, spatial average or mean, median method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We cleaned data using different cleaning methods: linear interpolation, spatial average or mean, median methods</a:t>
            </a:r>
          </a:p>
          <a:p>
            <a:pPr/>
            <a:r>
              <a:t>Passed this cleaned data through a linear regression</a:t>
            </a:r>
          </a:p>
          <a:p>
            <a:pPr/>
            <a:r>
              <a:t>Compared it against gradient boosting implementation</a:t>
            </a:r>
          </a:p>
          <a:p>
            <a:pPr/>
            <a:r>
              <a:t>Saw that gradient boosting quickly started getting out of hand with size due to decision trees</a:t>
            </a:r>
          </a:p>
          <a:p>
            <a:pPr/>
            <a:r>
              <a:t>This slide we test LSTM and compare against LSTM</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Gradient Boosting"/>
          <p:cNvSpPr txBox="1"/>
          <p:nvPr>
            <p:ph type="title"/>
          </p:nvPr>
        </p:nvSpPr>
        <p:spPr>
          <a:prstGeom prst="rect">
            <a:avLst/>
          </a:prstGeom>
        </p:spPr>
        <p:txBody>
          <a:bodyPr/>
          <a:lstStyle>
            <a:lvl1pPr>
              <a:defRPr spc="-200"/>
            </a:lvl1pPr>
          </a:lstStyle>
          <a:p>
            <a:pPr/>
            <a:r>
              <a:t>LSTM</a:t>
            </a:r>
          </a:p>
        </p:txBody>
      </p:sp>
      <p:sp>
        <p:nvSpPr>
          <p:cNvPr id="161" name="XGBoost is a good algorithm for PM2.5 prediction generally…"/>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XGBoost is a good algorithm for PM2.5 prediction generally</a:t>
            </a:r>
          </a:p>
          <a:p>
            <a:pPr/>
            <a:r>
              <a:t>As we have interactions between different factors</a:t>
            </a:r>
          </a:p>
          <a:p>
            <a:pPr/>
            <a:r>
              <a:t>Also xgboost internally handles null or Nan data points</a:t>
            </a:r>
          </a:p>
          <a:p>
            <a:pPr/>
            <a:r>
              <a:t>Also includes L1 and L2 regularisation</a:t>
            </a:r>
          </a:p>
          <a:p>
            <a:pPr/>
            <a:r>
              <a:t>The downside is that it is very memory intensive, as it creates an ensemble of decision trees the memory requires to store the model increases linearly with the number of trees.</a:t>
            </a:r>
          </a:p>
          <a:p>
            <a:pPr lvl="1"/>
            <a:r>
              <a:t>We used number of trees = 200 and max depth = 8 for our training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Issue faced and optimisations"/>
          <p:cNvSpPr txBox="1"/>
          <p:nvPr>
            <p:ph type="title"/>
          </p:nvPr>
        </p:nvSpPr>
        <p:spPr>
          <a:prstGeom prst="rect">
            <a:avLst/>
          </a:prstGeom>
        </p:spPr>
        <p:txBody>
          <a:bodyPr/>
          <a:lstStyle>
            <a:lvl1pPr>
              <a:defRPr spc="-200"/>
            </a:lvl1pPr>
          </a:lstStyle>
          <a:p>
            <a:pPr/>
            <a:r>
              <a:t>Issue faced and optimisations</a:t>
            </a:r>
          </a:p>
        </p:txBody>
      </p:sp>
      <p:sp>
        <p:nvSpPr>
          <p:cNvPr id="164" name="Faced a lot of issues with size and memory used for training as the system was not able to handle the full load during training  Here are the key optimizations we made to improve memory usage and prevent overheating:…"/>
          <p:cNvSpPr txBox="1"/>
          <p:nvPr>
            <p:ph type="body" idx="21"/>
          </p:nvPr>
        </p:nvSpPr>
        <p:spPr>
          <a:xfrm>
            <a:off x="1109971" y="3011259"/>
            <a:ext cx="22067529" cy="9493258"/>
          </a:xfrm>
          <a:prstGeom prst="rect">
            <a:avLst/>
          </a:prstGeom>
          <a:extLst>
            <a:ext uri="{C572A759-6A51-4108-AA02-DFA0A04FC94B}">
              <ma14:wrappingTextBoxFlag xmlns:ma14="http://schemas.microsoft.com/office/mac/drawingml/2011/main" val="1"/>
            </a:ext>
          </a:extLst>
        </p:spPr>
        <p:txBody>
          <a:bodyPr/>
          <a:lstStyle/>
          <a:p>
            <a:pPr marL="182880" indent="-182880" defTabSz="731501">
              <a:spcBef>
                <a:spcPts val="1300"/>
              </a:spcBef>
              <a:defRPr sz="2550"/>
            </a:pPr>
            <a:r>
              <a:t>Here are the key optimizations made to reduce memory usage and improve performance:</a:t>
            </a:r>
          </a:p>
          <a:p>
            <a:pPr marL="182880" indent="-182880" defTabSz="731501">
              <a:spcBef>
                <a:spcPts val="1300"/>
              </a:spcBef>
              <a:defRPr sz="2550"/>
            </a:pPr>
          </a:p>
          <a:p>
            <a:pPr marL="182880" indent="-182880" defTabSz="731501">
              <a:spcBef>
                <a:spcPts val="1300"/>
              </a:spcBef>
              <a:defRPr sz="2550"/>
            </a:pPr>
            <a:r>
              <a:t>Model Architecture:</a:t>
            </a:r>
          </a:p>
          <a:p>
            <a:pPr lvl="2" marL="182880" indent="-182880" defTabSz="731501">
              <a:spcBef>
                <a:spcPts val="1300"/>
              </a:spcBef>
              <a:defRPr sz="2550"/>
            </a:pPr>
            <a:r>
              <a:t>Simplified the architecture attention mechanism</a:t>
            </a:r>
          </a:p>
          <a:p>
            <a:pPr marL="182880" indent="-182880" defTabSz="731501">
              <a:spcBef>
                <a:spcPts val="1300"/>
              </a:spcBef>
              <a:defRPr sz="2550"/>
            </a:pPr>
            <a:r>
              <a:t>Reduced LSTM units (64→32)</a:t>
            </a:r>
          </a:p>
          <a:p>
            <a:pPr marL="182880" indent="-182880" defTabSz="731501">
              <a:spcBef>
                <a:spcPts val="1300"/>
              </a:spcBef>
              <a:defRPr sz="2550"/>
            </a:pPr>
            <a:r>
              <a:t>Simplified to single LSTM layer</a:t>
            </a:r>
          </a:p>
          <a:p>
            <a:pPr marL="182880" indent="-182880" defTabSz="731501">
              <a:spcBef>
                <a:spcPts val="1300"/>
              </a:spcBef>
              <a:defRPr sz="2550"/>
            </a:pPr>
            <a:r>
              <a:t>Added L2 regularization and gradient clipping</a:t>
            </a:r>
          </a:p>
          <a:p>
            <a:pPr marL="0" indent="0" defTabSz="731501">
              <a:spcBef>
                <a:spcPts val="1300"/>
              </a:spcBef>
              <a:buSzTx/>
              <a:buNone/>
              <a:defRPr sz="2550"/>
            </a:pPr>
          </a:p>
          <a:p>
            <a:pPr marL="182880" indent="-182880" defTabSz="731501">
              <a:spcBef>
                <a:spcPts val="1300"/>
              </a:spcBef>
              <a:defRPr sz="2550"/>
            </a:pPr>
            <a:r>
              <a:t>Memory Management:</a:t>
            </a:r>
          </a:p>
          <a:p>
            <a:pPr marL="182880" indent="-182880" defTabSz="731501">
              <a:spcBef>
                <a:spcPts val="1300"/>
              </a:spcBef>
              <a:defRPr sz="2550"/>
            </a:pPr>
            <a:r>
              <a:t>Added GPU memory growth control</a:t>
            </a:r>
          </a:p>
          <a:p>
            <a:pPr marL="182880" indent="-182880" defTabSz="731501">
              <a:spcBef>
                <a:spcPts val="1300"/>
              </a:spcBef>
              <a:defRPr sz="2550"/>
            </a:pPr>
            <a:r>
              <a:t>Clear TF sessions between training</a:t>
            </a:r>
          </a:p>
          <a:p>
            <a:pPr marL="182880" indent="-182880" defTabSz="731501">
              <a:spcBef>
                <a:spcPts val="1300"/>
              </a:spcBef>
              <a:defRPr sz="2550"/>
            </a:pPr>
            <a:r>
              <a:t>Reduced sequence length (24→12 hours)</a:t>
            </a:r>
          </a:p>
          <a:p>
            <a:pPr marL="182880" indent="-182880" defTabSz="731501">
              <a:spcBef>
                <a:spcPts val="1300"/>
              </a:spcBef>
              <a:defRPr sz="2550"/>
            </a:pPr>
            <a:r>
              <a:t>Smaller train/test split (80/20→70/30)</a:t>
            </a:r>
          </a:p>
          <a:p>
            <a:pPr marL="0" indent="0" defTabSz="731501">
              <a:spcBef>
                <a:spcPts val="1300"/>
              </a:spcBef>
              <a:buSzTx/>
              <a:buNone/>
              <a:defRPr sz="2550"/>
            </a:pPr>
          </a:p>
          <a:p>
            <a:pPr marL="182880" indent="-182880" defTabSz="731501">
              <a:spcBef>
                <a:spcPts val="1300"/>
              </a:spcBef>
              <a:defRPr sz="2550"/>
            </a:pPr>
            <a:r>
              <a:t>Training Parameters:</a:t>
            </a:r>
          </a:p>
          <a:p>
            <a:pPr marL="182880" indent="-182880" defTabSz="731501">
              <a:spcBef>
                <a:spcPts val="1300"/>
              </a:spcBef>
              <a:defRPr sz="2550"/>
            </a:pPr>
            <a:r>
              <a:t>Smaller batch size (64→16)</a:t>
            </a:r>
          </a:p>
          <a:p>
            <a:pPr marL="182880" indent="-182880" defTabSz="731501">
              <a:spcBef>
                <a:spcPts val="1300"/>
              </a:spcBef>
              <a:defRPr sz="2550"/>
            </a:pPr>
            <a:r>
              <a:t>Fewer epochs (100→50)</a:t>
            </a:r>
          </a:p>
          <a:p>
            <a:pPr marL="182880" indent="-182880" defTabSz="731501">
              <a:spcBef>
                <a:spcPts val="1300"/>
              </a:spcBef>
              <a:defRPr sz="2550"/>
            </a:pPr>
            <a:r>
              <a:t>Simplified learning rate to constant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Given the data distribution for each region"/>
          <p:cNvSpPr txBox="1"/>
          <p:nvPr>
            <p:ph type="title"/>
          </p:nvPr>
        </p:nvSpPr>
        <p:spPr>
          <a:prstGeom prst="rect">
            <a:avLst/>
          </a:prstGeom>
        </p:spPr>
        <p:txBody>
          <a:bodyPr/>
          <a:lstStyle>
            <a:lvl1pPr>
              <a:defRPr spc="-200"/>
            </a:lvl1pPr>
          </a:lstStyle>
          <a:p>
            <a:pPr/>
            <a:r>
              <a:t>Given the data distribution for each region</a:t>
            </a:r>
          </a:p>
        </p:txBody>
      </p:sp>
      <p:sp>
        <p:nvSpPr>
          <p:cNvPr id="167" name="Slide Subtitle"/>
          <p:cNvSpPr txBox="1"/>
          <p:nvPr>
            <p:ph type="body" sz="quarter" idx="1"/>
          </p:nvPr>
        </p:nvSpPr>
        <p:spPr>
          <a:xfrm>
            <a:off x="1206500" y="2372961"/>
            <a:ext cx="21971000" cy="934780"/>
          </a:xfrm>
          <a:prstGeom prst="rect">
            <a:avLst/>
          </a:prstGeom>
        </p:spPr>
        <p:txBody>
          <a:bodyPr/>
          <a:lstStyle/>
          <a:p>
            <a:pPr/>
          </a:p>
        </p:txBody>
      </p:sp>
      <p:pic>
        <p:nvPicPr>
          <p:cNvPr id="168" name="missing_data_heatmap.png" descr="missing_data_heatmap.png"/>
          <p:cNvPicPr>
            <a:picLocks noChangeAspect="1"/>
          </p:cNvPicPr>
          <p:nvPr/>
        </p:nvPicPr>
        <p:blipFill>
          <a:blip r:embed="rId2">
            <a:extLst/>
          </a:blip>
          <a:stretch>
            <a:fillRect/>
          </a:stretch>
        </p:blipFill>
        <p:spPr>
          <a:xfrm>
            <a:off x="1431821" y="2449884"/>
            <a:ext cx="19047641" cy="1114134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Prediction per region with xgboost"/>
          <p:cNvSpPr txBox="1"/>
          <p:nvPr>
            <p:ph type="title"/>
          </p:nvPr>
        </p:nvSpPr>
        <p:spPr>
          <a:prstGeom prst="rect">
            <a:avLst/>
          </a:prstGeom>
        </p:spPr>
        <p:txBody>
          <a:bodyPr/>
          <a:lstStyle>
            <a:lvl1pPr>
              <a:defRPr spc="-200"/>
            </a:lvl1pPr>
          </a:lstStyle>
          <a:p>
            <a:pPr/>
            <a:r>
              <a:t>Prediction per region with LSTM</a:t>
            </a:r>
          </a:p>
        </p:txBody>
      </p:sp>
      <p:sp>
        <p:nvSpPr>
          <p:cNvPr id="171" name="Airport"/>
          <p:cNvSpPr txBox="1"/>
          <p:nvPr>
            <p:ph type="body" sz="quarter" idx="1"/>
          </p:nvPr>
        </p:nvSpPr>
        <p:spPr>
          <a:xfrm>
            <a:off x="1206500" y="2372961"/>
            <a:ext cx="21971000" cy="934780"/>
          </a:xfrm>
          <a:prstGeom prst="rect">
            <a:avLst/>
          </a:prstGeom>
        </p:spPr>
        <p:txBody>
          <a:bodyPr/>
          <a:lstStyle/>
          <a:p>
            <a:pPr/>
            <a:r>
              <a:t>Airport</a:t>
            </a:r>
          </a:p>
        </p:txBody>
      </p:sp>
      <p:pic>
        <p:nvPicPr>
          <p:cNvPr id="172" name="lstm_error_distribution_Airport.png" descr="lstm_error_distribution_Airport.png"/>
          <p:cNvPicPr>
            <a:picLocks noChangeAspect="1"/>
          </p:cNvPicPr>
          <p:nvPr/>
        </p:nvPicPr>
        <p:blipFill>
          <a:blip r:embed="rId2">
            <a:extLst/>
          </a:blip>
          <a:srcRect l="0" t="8321" r="0" b="0"/>
          <a:stretch>
            <a:fillRect/>
          </a:stretch>
        </p:blipFill>
        <p:spPr>
          <a:xfrm>
            <a:off x="10978601" y="4248503"/>
            <a:ext cx="12042027" cy="7085973"/>
          </a:xfrm>
          <a:prstGeom prst="rect">
            <a:avLst/>
          </a:prstGeom>
          <a:ln w="12700">
            <a:miter lim="400000"/>
          </a:ln>
        </p:spPr>
      </p:pic>
      <p:pic>
        <p:nvPicPr>
          <p:cNvPr id="173" name="lstm_prediction_Airport.png" descr="lstm_prediction_Airport.png"/>
          <p:cNvPicPr>
            <a:picLocks noChangeAspect="1"/>
          </p:cNvPicPr>
          <p:nvPr/>
        </p:nvPicPr>
        <p:blipFill>
          <a:blip r:embed="rId3">
            <a:extLst/>
          </a:blip>
          <a:stretch>
            <a:fillRect/>
          </a:stretch>
        </p:blipFill>
        <p:spPr>
          <a:xfrm>
            <a:off x="364630" y="4014211"/>
            <a:ext cx="10200022" cy="7085807"/>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Prediction per region with xgboost"/>
          <p:cNvSpPr txBox="1"/>
          <p:nvPr>
            <p:ph type="title"/>
          </p:nvPr>
        </p:nvSpPr>
        <p:spPr>
          <a:prstGeom prst="rect">
            <a:avLst/>
          </a:prstGeom>
        </p:spPr>
        <p:txBody>
          <a:bodyPr/>
          <a:lstStyle>
            <a:lvl1pPr>
              <a:defRPr spc="-200"/>
            </a:lvl1pPr>
          </a:lstStyle>
          <a:p>
            <a:pPr/>
            <a:r>
              <a:t>Prediction per region with LSTM</a:t>
            </a:r>
          </a:p>
        </p:txBody>
      </p:sp>
      <p:sp>
        <p:nvSpPr>
          <p:cNvPr id="176" name="Colaba"/>
          <p:cNvSpPr txBox="1"/>
          <p:nvPr>
            <p:ph type="body" sz="quarter" idx="1"/>
          </p:nvPr>
        </p:nvSpPr>
        <p:spPr>
          <a:xfrm>
            <a:off x="1206500" y="2372961"/>
            <a:ext cx="21971000" cy="934780"/>
          </a:xfrm>
          <a:prstGeom prst="rect">
            <a:avLst/>
          </a:prstGeom>
        </p:spPr>
        <p:txBody>
          <a:bodyPr/>
          <a:lstStyle/>
          <a:p>
            <a:pPr/>
            <a:r>
              <a:t>Colaba</a:t>
            </a:r>
          </a:p>
        </p:txBody>
      </p:sp>
      <p:pic>
        <p:nvPicPr>
          <p:cNvPr id="177" name="image5.png" descr="image5.png"/>
          <p:cNvPicPr>
            <a:picLocks noChangeAspect="1"/>
          </p:cNvPicPr>
          <p:nvPr/>
        </p:nvPicPr>
        <p:blipFill>
          <a:blip r:embed="rId2">
            <a:extLst/>
          </a:blip>
          <a:stretch>
            <a:fillRect/>
          </a:stretch>
        </p:blipFill>
        <p:spPr>
          <a:xfrm>
            <a:off x="729593" y="4223037"/>
            <a:ext cx="11016696" cy="7653139"/>
          </a:xfrm>
          <a:prstGeom prst="rect">
            <a:avLst/>
          </a:prstGeom>
          <a:ln w="12700">
            <a:miter lim="400000"/>
          </a:ln>
        </p:spPr>
      </p:pic>
      <p:pic>
        <p:nvPicPr>
          <p:cNvPr id="178" name="image6.png" descr="image6.png"/>
          <p:cNvPicPr>
            <a:picLocks noChangeAspect="1"/>
          </p:cNvPicPr>
          <p:nvPr/>
        </p:nvPicPr>
        <p:blipFill>
          <a:blip r:embed="rId3">
            <a:extLst/>
          </a:blip>
          <a:stretch>
            <a:fillRect/>
          </a:stretch>
        </p:blipFill>
        <p:spPr>
          <a:xfrm>
            <a:off x="12162363" y="4393913"/>
            <a:ext cx="11391123" cy="7311387"/>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Prediction per region with xgboost"/>
          <p:cNvSpPr txBox="1"/>
          <p:nvPr>
            <p:ph type="title"/>
          </p:nvPr>
        </p:nvSpPr>
        <p:spPr>
          <a:prstGeom prst="rect">
            <a:avLst/>
          </a:prstGeom>
        </p:spPr>
        <p:txBody>
          <a:bodyPr/>
          <a:lstStyle>
            <a:lvl1pPr>
              <a:defRPr spc="-200"/>
            </a:lvl1pPr>
          </a:lstStyle>
          <a:p>
            <a:pPr/>
            <a:r>
              <a:t>Prediction per region with LSTM</a:t>
            </a:r>
          </a:p>
        </p:txBody>
      </p:sp>
      <p:sp>
        <p:nvSpPr>
          <p:cNvPr id="181" name="Mulund"/>
          <p:cNvSpPr txBox="1"/>
          <p:nvPr>
            <p:ph type="body" sz="quarter" idx="1"/>
          </p:nvPr>
        </p:nvSpPr>
        <p:spPr>
          <a:xfrm>
            <a:off x="1206500" y="2372961"/>
            <a:ext cx="21971000" cy="934780"/>
          </a:xfrm>
          <a:prstGeom prst="rect">
            <a:avLst/>
          </a:prstGeom>
        </p:spPr>
        <p:txBody>
          <a:bodyPr/>
          <a:lstStyle/>
          <a:p>
            <a:pPr/>
            <a:r>
              <a:t>Mulund</a:t>
            </a:r>
          </a:p>
        </p:txBody>
      </p:sp>
      <p:pic>
        <p:nvPicPr>
          <p:cNvPr id="182" name="image7.png" descr="image7.png"/>
          <p:cNvPicPr>
            <a:picLocks noChangeAspect="1"/>
          </p:cNvPicPr>
          <p:nvPr/>
        </p:nvPicPr>
        <p:blipFill>
          <a:blip r:embed="rId2">
            <a:extLst/>
          </a:blip>
          <a:stretch>
            <a:fillRect/>
          </a:stretch>
        </p:blipFill>
        <p:spPr>
          <a:xfrm>
            <a:off x="567196" y="3830658"/>
            <a:ext cx="10339397" cy="7182630"/>
          </a:xfrm>
          <a:prstGeom prst="rect">
            <a:avLst/>
          </a:prstGeom>
          <a:ln w="12700">
            <a:miter lim="400000"/>
          </a:ln>
        </p:spPr>
      </p:pic>
      <p:pic>
        <p:nvPicPr>
          <p:cNvPr id="183" name="image8.png" descr="image8.png"/>
          <p:cNvPicPr>
            <a:picLocks noChangeAspect="1"/>
          </p:cNvPicPr>
          <p:nvPr/>
        </p:nvPicPr>
        <p:blipFill>
          <a:blip r:embed="rId3">
            <a:extLst/>
          </a:blip>
          <a:stretch>
            <a:fillRect/>
          </a:stretch>
        </p:blipFill>
        <p:spPr>
          <a:xfrm>
            <a:off x="11663575" y="3695513"/>
            <a:ext cx="11611632" cy="745292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MAE and RMSE values"/>
          <p:cNvSpPr txBox="1"/>
          <p:nvPr>
            <p:ph type="title"/>
          </p:nvPr>
        </p:nvSpPr>
        <p:spPr>
          <a:prstGeom prst="rect">
            <a:avLst/>
          </a:prstGeom>
        </p:spPr>
        <p:txBody>
          <a:bodyPr/>
          <a:lstStyle/>
          <a:p>
            <a:pPr/>
            <a:r>
              <a:t>MAE and RMSE values</a:t>
            </a:r>
          </a:p>
        </p:txBody>
      </p:sp>
      <p:graphicFrame>
        <p:nvGraphicFramePr>
          <p:cNvPr id="186" name="Table 1"/>
          <p:cNvGraphicFramePr/>
          <p:nvPr/>
        </p:nvGraphicFramePr>
        <p:xfrm>
          <a:off x="2296099" y="3238719"/>
          <a:ext cx="9550401" cy="7924801"/>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2384425"/>
                <a:gridCol w="2384425"/>
                <a:gridCol w="2384425"/>
              </a:tblGrid>
              <a:tr h="1582420">
                <a:tc>
                  <a:txBody>
                    <a:bodyPr/>
                    <a:lstStyle/>
                    <a:p>
                      <a:pPr indent="457200">
                        <a:defRPr>
                          <a:solidFill>
                            <a:srgbClr val="000000"/>
                          </a:solidFill>
                        </a:defRPr>
                      </a:pPr>
                      <a:r>
                        <a:rPr sz="4000">
                          <a:solidFill>
                            <a:srgbClr val="5E5E5E"/>
                          </a:solidFill>
                        </a:rPr>
                        <a:t>Locality</a:t>
                      </a:r>
                    </a:p>
                  </a:txBody>
                  <a:tcPr marL="0" marR="0" marT="0" marB="0" anchor="t" anchorCtr="0" horzOverflow="overflow"/>
                </a:tc>
                <a:tc>
                  <a:txBody>
                    <a:bodyPr/>
                    <a:lstStyle/>
                    <a:p>
                      <a:pPr indent="457200">
                        <a:defRPr>
                          <a:solidFill>
                            <a:srgbClr val="000000"/>
                          </a:solidFill>
                        </a:defRPr>
                      </a:pPr>
                      <a:r>
                        <a:rPr sz="4000">
                          <a:solidFill>
                            <a:srgbClr val="5E5E5E"/>
                          </a:solidFill>
                        </a:rPr>
                        <a:t>MAE</a:t>
                      </a:r>
                    </a:p>
                  </a:txBody>
                  <a:tcPr marL="0" marR="0" marT="0" marB="0" anchor="t" anchorCtr="0" horzOverflow="overflow"/>
                </a:tc>
                <a:tc>
                  <a:txBody>
                    <a:bodyPr/>
                    <a:lstStyle/>
                    <a:p>
                      <a:pPr indent="457200">
                        <a:defRPr>
                          <a:solidFill>
                            <a:srgbClr val="000000"/>
                          </a:solidFill>
                        </a:defRPr>
                      </a:pPr>
                      <a:r>
                        <a:rPr sz="4000">
                          <a:solidFill>
                            <a:srgbClr val="5E5E5E"/>
                          </a:solidFill>
                        </a:rPr>
                        <a:t>RMS</a:t>
                      </a:r>
                    </a:p>
                  </a:txBody>
                  <a:tcPr marL="0" marR="0" marT="0" marB="0" anchor="t" anchorCtr="0" horzOverflow="overflow"/>
                </a:tc>
              </a:tr>
              <a:tr h="1582420">
                <a:tc>
                  <a:txBody>
                    <a:bodyPr/>
                    <a:lstStyle/>
                    <a:p>
                      <a:pPr algn="l" defTabSz="457200">
                        <a:defRPr>
                          <a:solidFill>
                            <a:srgbClr val="000000"/>
                          </a:solidFill>
                        </a:defRPr>
                      </a:pPr>
                      <a:r>
                        <a:rPr sz="4000">
                          <a:solidFill>
                            <a:srgbClr val="13343B"/>
                          </a:solidFill>
                          <a:latin typeface="+mn-lt"/>
                          <a:ea typeface="+mn-ea"/>
                          <a:cs typeface="+mn-cs"/>
                          <a:sym typeface="Helvetica"/>
                        </a:rPr>
                        <a:t>Sion</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21.84</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22.93</a:t>
                      </a:r>
                    </a:p>
                  </a:txBody>
                  <a:tcPr marL="0" marR="0" marT="76200" marB="76200" anchor="t" anchorCtr="0" horzOverflow="overflow"/>
                </a:tc>
              </a:tr>
              <a:tr h="1582420">
                <a:tc>
                  <a:txBody>
                    <a:bodyPr/>
                    <a:lstStyle/>
                    <a:p>
                      <a:pPr algn="l" defTabSz="457200">
                        <a:defRPr>
                          <a:solidFill>
                            <a:srgbClr val="000000"/>
                          </a:solidFill>
                        </a:defRPr>
                      </a:pPr>
                      <a:r>
                        <a:rPr sz="4000">
                          <a:solidFill>
                            <a:srgbClr val="13343B"/>
                          </a:solidFill>
                          <a:latin typeface="+mn-lt"/>
                          <a:ea typeface="+mn-ea"/>
                          <a:cs typeface="+mn-cs"/>
                          <a:sym typeface="Helvetica"/>
                        </a:rPr>
                        <a:t>Nerul</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26.59</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28.47</a:t>
                      </a:r>
                    </a:p>
                  </a:txBody>
                  <a:tcPr marL="0" marR="0" marT="76200" marB="76200" anchor="t" anchorCtr="0" horzOverflow="overflow"/>
                </a:tc>
              </a:tr>
              <a:tr h="1582420">
                <a:tc>
                  <a:txBody>
                    <a:bodyPr/>
                    <a:lstStyle/>
                    <a:p>
                      <a:pPr algn="l" defTabSz="457200">
                        <a:defRPr>
                          <a:solidFill>
                            <a:srgbClr val="000000"/>
                          </a:solidFill>
                        </a:defRPr>
                      </a:pPr>
                      <a:r>
                        <a:rPr sz="4000">
                          <a:solidFill>
                            <a:srgbClr val="13343B"/>
                          </a:solidFill>
                          <a:latin typeface="+mn-lt"/>
                          <a:ea typeface="+mn-ea"/>
                          <a:cs typeface="+mn-cs"/>
                          <a:sym typeface="Helvetica"/>
                        </a:rPr>
                        <a:t>Powai</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21.64</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24.45</a:t>
                      </a:r>
                    </a:p>
                  </a:txBody>
                  <a:tcPr marL="0" marR="0" marT="76200" marB="76200" anchor="t" anchorCtr="0" horzOverflow="overflow"/>
                </a:tc>
              </a:tr>
              <a:tr h="1582420">
                <a:tc>
                  <a:txBody>
                    <a:bodyPr/>
                    <a:lstStyle/>
                    <a:p>
                      <a:pPr algn="l" defTabSz="457200">
                        <a:defRPr>
                          <a:solidFill>
                            <a:srgbClr val="000000"/>
                          </a:solidFill>
                        </a:defRPr>
                      </a:pPr>
                      <a:r>
                        <a:rPr sz="4000">
                          <a:solidFill>
                            <a:srgbClr val="13343B"/>
                          </a:solidFill>
                          <a:latin typeface="+mn-lt"/>
                          <a:ea typeface="+mn-ea"/>
                          <a:cs typeface="+mn-cs"/>
                          <a:sym typeface="Helvetica"/>
                        </a:rPr>
                        <a:t>Airport</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11.72</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13.23</a:t>
                      </a:r>
                    </a:p>
                  </a:txBody>
                  <a:tcPr marL="0" marR="0" marT="76200" marB="76200" anchor="t" anchorCtr="0" horzOverflow="overflow"/>
                </a:tc>
              </a:tr>
              <a:tr h="1582420">
                <a:tc>
                  <a:txBody>
                    <a:bodyPr/>
                    <a:lstStyle/>
                    <a:p>
                      <a:pPr algn="l" defTabSz="457200">
                        <a:defRPr>
                          <a:solidFill>
                            <a:srgbClr val="000000"/>
                          </a:solidFill>
                        </a:defRPr>
                      </a:pPr>
                      <a:r>
                        <a:rPr sz="4000">
                          <a:solidFill>
                            <a:srgbClr val="13343B"/>
                          </a:solidFill>
                          <a:latin typeface="+mn-lt"/>
                          <a:ea typeface="+mn-ea"/>
                          <a:cs typeface="+mn-cs"/>
                          <a:sym typeface="Helvetica"/>
                        </a:rPr>
                        <a:t>Powai</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23.24</a:t>
                      </a:r>
                    </a:p>
                  </a:txBody>
                  <a:tcPr marL="0" marR="0" marT="76200" marB="76200" anchor="t" anchorCtr="0" horzOverflow="overflow"/>
                </a:tc>
                <a:tc>
                  <a:txBody>
                    <a:bodyPr/>
                    <a:lstStyle/>
                    <a:p>
                      <a:pPr algn="r" defTabSz="457200">
                        <a:defRPr>
                          <a:solidFill>
                            <a:srgbClr val="000000"/>
                          </a:solidFill>
                        </a:defRPr>
                      </a:pPr>
                      <a:r>
                        <a:rPr sz="4000">
                          <a:solidFill>
                            <a:srgbClr val="13343B"/>
                          </a:solidFill>
                          <a:latin typeface="+mn-lt"/>
                          <a:ea typeface="+mn-ea"/>
                          <a:cs typeface="+mn-cs"/>
                          <a:sym typeface="Helvetica"/>
                        </a:rPr>
                        <a:t>25.92</a:t>
                      </a:r>
                    </a:p>
                  </a:txBody>
                  <a:tcPr marL="0" marR="0" marT="76200" marB="76200" anchor="t" anchorCtr="0" horzOverflow="overflow"/>
                </a:tc>
              </a:tr>
            </a:tbl>
          </a:graphicData>
        </a:graphic>
      </p:graphicFrame>
      <p:graphicFrame>
        <p:nvGraphicFramePr>
          <p:cNvPr id="187" name="Table 1-1"/>
          <p:cNvGraphicFramePr/>
          <p:nvPr/>
        </p:nvGraphicFramePr>
        <p:xfrm>
          <a:off x="11736758" y="3238719"/>
          <a:ext cx="9550401" cy="7924801"/>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2384425"/>
                <a:gridCol w="2384425"/>
                <a:gridCol w="2384425"/>
              </a:tblGrid>
              <a:tr h="1582420">
                <a:tc>
                  <a:txBody>
                    <a:bodyPr/>
                    <a:lstStyle/>
                    <a:p>
                      <a:pPr indent="457200">
                        <a:defRPr>
                          <a:solidFill>
                            <a:srgbClr val="000000"/>
                          </a:solidFill>
                        </a:defRPr>
                      </a:pPr>
                      <a:r>
                        <a:rPr sz="4000">
                          <a:solidFill>
                            <a:srgbClr val="5E5E5E"/>
                          </a:solidFill>
                        </a:rPr>
                        <a:t>Locality</a:t>
                      </a:r>
                    </a:p>
                  </a:txBody>
                  <a:tcPr marL="0" marR="0" marT="0" marB="0" anchor="t" anchorCtr="0" horzOverflow="overflow"/>
                </a:tc>
                <a:tc>
                  <a:txBody>
                    <a:bodyPr/>
                    <a:lstStyle/>
                    <a:p>
                      <a:pPr indent="457200">
                        <a:defRPr>
                          <a:solidFill>
                            <a:srgbClr val="000000"/>
                          </a:solidFill>
                        </a:defRPr>
                      </a:pPr>
                      <a:r>
                        <a:rPr sz="4000">
                          <a:solidFill>
                            <a:srgbClr val="5E5E5E"/>
                          </a:solidFill>
                        </a:rPr>
                        <a:t>MAE</a:t>
                      </a:r>
                    </a:p>
                  </a:txBody>
                  <a:tcPr marL="0" marR="0" marT="0" marB="0" anchor="t" anchorCtr="0" horzOverflow="overflow"/>
                </a:tc>
                <a:tc>
                  <a:txBody>
                    <a:bodyPr/>
                    <a:lstStyle/>
                    <a:p>
                      <a:pPr indent="457200">
                        <a:defRPr>
                          <a:solidFill>
                            <a:srgbClr val="000000"/>
                          </a:solidFill>
                        </a:defRPr>
                      </a:pPr>
                      <a:r>
                        <a:rPr sz="4000">
                          <a:solidFill>
                            <a:srgbClr val="5E5E5E"/>
                          </a:solidFill>
                        </a:rPr>
                        <a:t>RMS</a:t>
                      </a:r>
                    </a:p>
                  </a:txBody>
                  <a:tcPr marL="0" marR="0" marT="0" marB="0" anchor="t" anchorCtr="0" horzOverflow="overflow"/>
                </a:tc>
              </a:tr>
              <a:tr h="1582420">
                <a:tc>
                  <a:txBody>
                    <a:bodyPr/>
                    <a:lstStyle/>
                    <a:p>
                      <a:pPr algn="l" defTabSz="457200">
                        <a:defRPr>
                          <a:solidFill>
                            <a:srgbClr val="000000"/>
                          </a:solidFill>
                        </a:defRPr>
                      </a:pPr>
                      <a:r>
                        <a:rPr sz="3850">
                          <a:solidFill>
                            <a:srgbClr val="13343B"/>
                          </a:solidFill>
                          <a:latin typeface="+mn-lt"/>
                          <a:ea typeface="+mn-ea"/>
                          <a:cs typeface="+mn-cs"/>
                          <a:sym typeface="Helvetica"/>
                        </a:rPr>
                        <a:t>Kandivali</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21.52</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24.06</a:t>
                      </a:r>
                    </a:p>
                  </a:txBody>
                  <a:tcPr marL="0" marR="0" marT="76200" marB="76200" anchor="t" anchorCtr="0" horzOverflow="overflow"/>
                </a:tc>
              </a:tr>
              <a:tr h="1582420">
                <a:tc>
                  <a:txBody>
                    <a:bodyPr/>
                    <a:lstStyle/>
                    <a:p>
                      <a:pPr algn="l" defTabSz="457200">
                        <a:defRPr>
                          <a:solidFill>
                            <a:srgbClr val="000000"/>
                          </a:solidFill>
                        </a:defRPr>
                      </a:pPr>
                      <a:r>
                        <a:rPr sz="3850">
                          <a:solidFill>
                            <a:srgbClr val="13343B"/>
                          </a:solidFill>
                          <a:latin typeface="+mn-lt"/>
                          <a:ea typeface="+mn-ea"/>
                          <a:cs typeface="+mn-cs"/>
                          <a:sym typeface="Helvetica"/>
                        </a:rPr>
                        <a:t>Mahape</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26.19</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28.98</a:t>
                      </a:r>
                    </a:p>
                  </a:txBody>
                  <a:tcPr marL="0" marR="0" marT="76200" marB="76200" anchor="t" anchorCtr="0" horzOverflow="overflow"/>
                </a:tc>
              </a:tr>
              <a:tr h="1582420">
                <a:tc>
                  <a:txBody>
                    <a:bodyPr/>
                    <a:lstStyle/>
                    <a:p>
                      <a:pPr algn="l" defTabSz="457200">
                        <a:defRPr>
                          <a:solidFill>
                            <a:srgbClr val="000000"/>
                          </a:solidFill>
                        </a:defRPr>
                      </a:pPr>
                      <a:r>
                        <a:rPr sz="3850">
                          <a:solidFill>
                            <a:srgbClr val="13343B"/>
                          </a:solidFill>
                          <a:latin typeface="+mn-lt"/>
                          <a:ea typeface="+mn-ea"/>
                          <a:cs typeface="+mn-cs"/>
                          <a:sym typeface="Helvetica"/>
                        </a:rPr>
                        <a:t>Kurla</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20.22</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29.52</a:t>
                      </a:r>
                    </a:p>
                  </a:txBody>
                  <a:tcPr marL="0" marR="0" marT="76200" marB="76200" anchor="t" anchorCtr="0" horzOverflow="overflow"/>
                </a:tc>
              </a:tr>
              <a:tr h="1582420">
                <a:tc>
                  <a:txBody>
                    <a:bodyPr/>
                    <a:lstStyle/>
                    <a:p>
                      <a:pPr algn="l" defTabSz="457200">
                        <a:defRPr>
                          <a:solidFill>
                            <a:srgbClr val="000000"/>
                          </a:solidFill>
                        </a:defRPr>
                      </a:pPr>
                      <a:r>
                        <a:rPr sz="3850">
                          <a:solidFill>
                            <a:srgbClr val="13343B"/>
                          </a:solidFill>
                          <a:latin typeface="+mn-lt"/>
                          <a:ea typeface="+mn-ea"/>
                          <a:cs typeface="+mn-cs"/>
                          <a:sym typeface="Helvetica"/>
                        </a:rPr>
                        <a:t>Vileparle</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21.84</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25.66</a:t>
                      </a:r>
                    </a:p>
                  </a:txBody>
                  <a:tcPr marL="0" marR="0" marT="76200" marB="76200" anchor="t" anchorCtr="0" horzOverflow="overflow"/>
                </a:tc>
              </a:tr>
              <a:tr h="1582420">
                <a:tc>
                  <a:txBody>
                    <a:bodyPr/>
                    <a:lstStyle/>
                    <a:p>
                      <a:pPr algn="l" defTabSz="457200">
                        <a:defRPr>
                          <a:solidFill>
                            <a:srgbClr val="000000"/>
                          </a:solidFill>
                        </a:defRPr>
                      </a:pPr>
                      <a:r>
                        <a:rPr sz="3850">
                          <a:solidFill>
                            <a:srgbClr val="13343B"/>
                          </a:solidFill>
                          <a:latin typeface="+mn-lt"/>
                          <a:ea typeface="+mn-ea"/>
                          <a:cs typeface="+mn-cs"/>
                          <a:sym typeface="Helvetica"/>
                        </a:rPr>
                        <a:t>Worli</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22.18</a:t>
                      </a:r>
                    </a:p>
                  </a:txBody>
                  <a:tcPr marL="0" marR="0" marT="76200" marB="76200" anchor="t" anchorCtr="0" horzOverflow="overflow"/>
                </a:tc>
                <a:tc>
                  <a:txBody>
                    <a:bodyPr/>
                    <a:lstStyle/>
                    <a:p>
                      <a:pPr algn="r" defTabSz="457200">
                        <a:defRPr>
                          <a:solidFill>
                            <a:srgbClr val="000000"/>
                          </a:solidFill>
                        </a:defRPr>
                      </a:pPr>
                      <a:r>
                        <a:rPr sz="3850">
                          <a:solidFill>
                            <a:srgbClr val="13343B"/>
                          </a:solidFill>
                          <a:latin typeface="+mn-lt"/>
                          <a:ea typeface="+mn-ea"/>
                          <a:cs typeface="+mn-cs"/>
                          <a:sym typeface="Helvetica"/>
                        </a:rPr>
                        <a:t>23.34</a:t>
                      </a:r>
                    </a:p>
                  </a:txBody>
                  <a:tcPr marL="0" marR="0" marT="76200" marB="76200" anchor="t" anchorCtr="0" horzOverflow="overflow"/>
                </a:tc>
              </a:tr>
            </a:tbl>
          </a:graphicData>
        </a:graphic>
      </p:graphicFrame>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Result"/>
          <p:cNvSpPr txBox="1"/>
          <p:nvPr>
            <p:ph type="title"/>
          </p:nvPr>
        </p:nvSpPr>
        <p:spPr>
          <a:prstGeom prst="rect">
            <a:avLst/>
          </a:prstGeom>
        </p:spPr>
        <p:txBody>
          <a:bodyPr/>
          <a:lstStyle>
            <a:lvl1pPr>
              <a:defRPr spc="-200"/>
            </a:lvl1pPr>
          </a:lstStyle>
          <a:p>
            <a:pPr/>
            <a:r>
              <a:t>Result</a:t>
            </a:r>
          </a:p>
        </p:txBody>
      </p:sp>
      <p:sp>
        <p:nvSpPr>
          <p:cNvPr id="190" name="Slide Subtitle"/>
          <p:cNvSpPr txBox="1"/>
          <p:nvPr>
            <p:ph type="body" sz="quarter" idx="1"/>
          </p:nvPr>
        </p:nvSpPr>
        <p:spPr>
          <a:xfrm>
            <a:off x="1206500" y="2372961"/>
            <a:ext cx="21971000" cy="934780"/>
          </a:xfrm>
          <a:prstGeom prst="rect">
            <a:avLst/>
          </a:prstGeom>
        </p:spPr>
        <p:txBody>
          <a:bodyPr/>
          <a:lstStyle/>
          <a:p>
            <a:pPr/>
          </a:p>
        </p:txBody>
      </p:sp>
      <p:sp>
        <p:nvSpPr>
          <p:cNvPr id="191" name="Because I had to reduce the size for training the average Mae and RMSE were pretty bad with them being 45 and 55 for this algorithm…"/>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The average Mae and RMSE were much better with it being around 20 and 23</a:t>
            </a:r>
          </a:p>
          <a:p>
            <a:pPr/>
            <a:r>
              <a:t>Also as seen the predictions get random while predicting further away in the future</a:t>
            </a:r>
          </a:p>
          <a:p>
            <a:pPr/>
            <a:r>
              <a:t>Going forward I will experiment with current training params and also intend to improve the LSTM training params by taking into account the codistance between the localities and trying to incorporate the inputs of each other to take into consideration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