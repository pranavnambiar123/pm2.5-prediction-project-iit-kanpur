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7" r:id="rId6"/>
    <p:sldId id="269" r:id="rId7"/>
    <p:sldId id="260" r:id="rId8"/>
    <p:sldId id="268" r:id="rId9"/>
    <p:sldId id="261" r:id="rId10"/>
    <p:sldId id="262" r:id="rId11"/>
    <p:sldId id="263" r:id="rId12"/>
    <p:sldId id="264" r:id="rId13"/>
    <p:sldId id="266"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a:tcStyle>
        <a:tcBdr/>
        <a:fill>
          <a:solidFill>
            <a:srgbClr val="FFFFFF"/>
          </a:solidFill>
        </a:fill>
      </a:tcStyle>
    </a:band2H>
    <a:firstCol>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9" d="100"/>
          <a:sy n="49" d="100"/>
        </p:scale>
        <p:origin x="1038"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1" name="Body Level One…"/>
          <p:cNvSpPr txBox="1">
            <a:spLocks noGrp="1"/>
          </p:cNvSpPr>
          <p:nvPr>
            <p:ph type="body" sz="quarter" idx="1" hasCustomPrompt="1"/>
          </p:nvPr>
        </p:nvSpPr>
        <p:spPr>
          <a:xfrm>
            <a:off x="1201340" y="11859862"/>
            <a:ext cx="21971004" cy="636980"/>
          </a:xfrm>
          <a:prstGeom prst="rect">
            <a:avLst/>
          </a:prstGeom>
        </p:spPr>
        <p:txBody>
          <a:bodyPr lIns="45718" tIns="45718" rIns="45718" bIns="45718" numCol="1" spcCol="38100"/>
          <a:lstStyle>
            <a:lvl1pPr marL="0" indent="0" defTabSz="825500">
              <a:lnSpc>
                <a:spcPct val="100000"/>
              </a:lnSpc>
              <a:spcBef>
                <a:spcPts val="0"/>
              </a:spcBef>
              <a:buSzTx/>
              <a:buNone/>
              <a:defRPr sz="3600" b="1"/>
            </a:lvl1pPr>
            <a:lvl2pPr marL="1066800" indent="-457200" defTabSz="825500">
              <a:lnSpc>
                <a:spcPct val="100000"/>
              </a:lnSpc>
              <a:spcBef>
                <a:spcPts val="0"/>
              </a:spcBef>
              <a:defRPr sz="3600" b="1"/>
            </a:lvl2pPr>
            <a:lvl3pPr marL="1676400" indent="-457200" defTabSz="825500">
              <a:lnSpc>
                <a:spcPct val="100000"/>
              </a:lnSpc>
              <a:spcBef>
                <a:spcPts val="0"/>
              </a:spcBef>
              <a:defRPr sz="3600" b="1"/>
            </a:lvl3pPr>
            <a:lvl4pPr marL="2286000" indent="-457200" defTabSz="825500">
              <a:lnSpc>
                <a:spcPct val="100000"/>
              </a:lnSpc>
              <a:spcBef>
                <a:spcPts val="0"/>
              </a:spcBef>
              <a:defRPr sz="3600" b="1"/>
            </a:lvl4pPr>
            <a:lvl5pPr marL="2895600" indent="-457200" defTabSz="825500">
              <a:lnSpc>
                <a:spcPct val="100000"/>
              </a:lnSpc>
              <a:spcBef>
                <a:spcPts val="0"/>
              </a:spcBef>
              <a:defRPr sz="3600" b="1"/>
            </a:lvl5pPr>
          </a:lstStyle>
          <a:p>
            <a:r>
              <a:t>Author and Date</a:t>
            </a:r>
          </a:p>
          <a:p>
            <a:pPr lvl="1"/>
            <a:endParaRPr/>
          </a:p>
          <a:p>
            <a:pPr lvl="2"/>
            <a:endParaRPr/>
          </a:p>
          <a:p>
            <a:pPr lvl="3"/>
            <a:endParaRPr/>
          </a:p>
          <a:p>
            <a:pPr lvl="4"/>
            <a:endParaRPr/>
          </a:p>
        </p:txBody>
      </p:sp>
      <p:sp>
        <p:nvSpPr>
          <p:cNvPr id="12" name="Presentation Title"/>
          <p:cNvSpPr txBox="1">
            <a:spLocks noGrp="1"/>
          </p:cNvSpPr>
          <p:nvPr>
            <p:ph type="title" hasCustomPrompt="1"/>
          </p:nvPr>
        </p:nvSpPr>
        <p:spPr>
          <a:xfrm>
            <a:off x="1206496" y="2574991"/>
            <a:ext cx="21971005" cy="4648202"/>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21" hasCustomPrompt="1"/>
          </p:nvPr>
        </p:nvSpPr>
        <p:spPr>
          <a:xfrm>
            <a:off x="1201342" y="7223190"/>
            <a:ext cx="21971002" cy="1905002"/>
          </a:xfrm>
          <a:prstGeom prst="rect">
            <a:avLst/>
          </a:prstGeom>
        </p:spPr>
        <p:txBody>
          <a:bodyPr numCol="1" spcCol="38100"/>
          <a:lstStyle>
            <a:lvl1pPr marL="0" indent="0" defTabSz="825500">
              <a:lnSpc>
                <a:spcPct val="100000"/>
              </a:lnSpc>
              <a:spcBef>
                <a:spcPts val="0"/>
              </a:spcBef>
              <a:buSzTx/>
              <a:buNone/>
              <a:defRPr sz="5500" b="1"/>
            </a:lvl1pPr>
          </a:lstStyle>
          <a:p>
            <a:r>
              <a:t>Presentation Subtitle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numCol="1" spcCol="38100">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Body Level One…"/>
          <p:cNvSpPr txBox="1">
            <a:spLocks noGrp="1"/>
          </p:cNvSpPr>
          <p:nvPr>
            <p:ph type="body" sz="quarter" idx="1" hasCustomPrompt="1"/>
          </p:nvPr>
        </p:nvSpPr>
        <p:spPr>
          <a:xfrm>
            <a:off x="1207690" y="1106137"/>
            <a:ext cx="21968621" cy="636980"/>
          </a:xfrm>
          <a:prstGeom prst="rect">
            <a:avLst/>
          </a:prstGeom>
        </p:spPr>
        <p:txBody>
          <a:bodyPr lIns="45718" tIns="45718" rIns="45718" bIns="45718" numCol="1" spcCol="38100"/>
          <a:lstStyle>
            <a:lvl1pPr marL="0" indent="0" defTabSz="825500">
              <a:lnSpc>
                <a:spcPct val="100000"/>
              </a:lnSpc>
              <a:spcBef>
                <a:spcPts val="0"/>
              </a:spcBef>
              <a:buSzTx/>
              <a:buNone/>
              <a:defRPr sz="3600" b="1"/>
            </a:lvl1pPr>
            <a:lvl2pPr marL="1066800" indent="-457200" defTabSz="825500">
              <a:lnSpc>
                <a:spcPct val="100000"/>
              </a:lnSpc>
              <a:spcBef>
                <a:spcPts val="0"/>
              </a:spcBef>
              <a:defRPr sz="3600" b="1"/>
            </a:lvl2pPr>
            <a:lvl3pPr marL="1676400" indent="-457200" defTabSz="825500">
              <a:lnSpc>
                <a:spcPct val="100000"/>
              </a:lnSpc>
              <a:spcBef>
                <a:spcPts val="0"/>
              </a:spcBef>
              <a:defRPr sz="3600" b="1"/>
            </a:lvl3pPr>
            <a:lvl4pPr marL="2286000" indent="-457200" defTabSz="825500">
              <a:lnSpc>
                <a:spcPct val="100000"/>
              </a:lnSpc>
              <a:spcBef>
                <a:spcPts val="0"/>
              </a:spcBef>
              <a:defRPr sz="3600" b="1"/>
            </a:lvl4pPr>
            <a:lvl5pPr marL="2895600" indent="-457200" defTabSz="825500">
              <a:lnSpc>
                <a:spcPct val="100000"/>
              </a:lnSpc>
              <a:spcBef>
                <a:spcPts val="0"/>
              </a:spcBef>
              <a:defRPr sz="3600" b="1"/>
            </a:lvl5pPr>
          </a:lstStyle>
          <a:p>
            <a:r>
              <a:t>Author and Date</a:t>
            </a:r>
          </a:p>
          <a:p>
            <a:pPr lvl="1"/>
            <a:endParaRPr/>
          </a:p>
          <a:p>
            <a:pPr lvl="2"/>
            <a:endParaRPr/>
          </a:p>
          <a:p>
            <a:pPr lvl="3"/>
            <a:endParaRPr/>
          </a:p>
          <a:p>
            <a:pPr lvl="4"/>
            <a:endParaRPr/>
          </a:p>
        </p:txBody>
      </p:sp>
      <p:sp>
        <p:nvSpPr>
          <p:cNvPr id="24" name="Body Level One…"/>
          <p:cNvSpPr txBox="1">
            <a:spLocks noGrp="1"/>
          </p:cNvSpPr>
          <p:nvPr>
            <p:ph type="body" sz="quarter" idx="22" hasCustomPrompt="1"/>
          </p:nvPr>
        </p:nvSpPr>
        <p:spPr>
          <a:xfrm>
            <a:off x="1206500" y="11609909"/>
            <a:ext cx="21971000" cy="1116953"/>
          </a:xfrm>
          <a:prstGeom prst="rect">
            <a:avLst/>
          </a:prstGeom>
        </p:spPr>
        <p:txBody>
          <a:bodyPr numCol="1" spcCol="38100"/>
          <a:lstStyle>
            <a:lvl1pPr marL="0" indent="0" defTabSz="825500">
              <a:lnSpc>
                <a:spcPct val="100000"/>
              </a:lnSpc>
              <a:spcBef>
                <a:spcPts val="0"/>
              </a:spcBef>
              <a:buSzTx/>
              <a:buNone/>
              <a:defRPr sz="5500" b="1"/>
            </a:lvl1pPr>
          </a:lstStyle>
          <a:p>
            <a:r>
              <a:t>Presentation Subtitle</a:t>
            </a: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oumous"/>
          <p:cNvSpPr>
            <a:spLocks noGrp="1"/>
          </p:cNvSpPr>
          <p:nvPr>
            <p:ph type="pic" idx="21"/>
          </p:nvPr>
        </p:nvSpPr>
        <p:spPr>
          <a:xfrm>
            <a:off x="10972800" y="-203200"/>
            <a:ext cx="12144837" cy="14135100"/>
          </a:xfrm>
          <a:prstGeom prst="rect">
            <a:avLst/>
          </a:prstGeom>
        </p:spPr>
        <p:txBody>
          <a:bodyPr lIns="91439" tIns="45719" rIns="91439" bIns="45719" numCol="1" spcCol="38100">
            <a:noAutofit/>
          </a:bodyPr>
          <a:lstStyle/>
          <a:p>
            <a:endParaRPr/>
          </a:p>
        </p:txBody>
      </p:sp>
      <p:sp>
        <p:nvSpPr>
          <p:cNvPr id="33" name="Slide Title"/>
          <p:cNvSpPr txBox="1">
            <a:spLocks noGrp="1"/>
          </p:cNvSpPr>
          <p:nvPr>
            <p:ph type="title" hasCustomPrompt="1"/>
          </p:nvPr>
        </p:nvSpPr>
        <p:spPr>
          <a:xfrm>
            <a:off x="1206500" y="1270000"/>
            <a:ext cx="9779000" cy="5882274"/>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numCol="1" spcCol="38100"/>
          <a:lstStyle>
            <a:lvl1pPr marL="0" indent="0" defTabSz="825500">
              <a:lnSpc>
                <a:spcPct val="100000"/>
              </a:lnSpc>
              <a:spcBef>
                <a:spcPts val="0"/>
              </a:spcBef>
              <a:buSzTx/>
              <a:buNone/>
              <a:defRPr sz="5500" b="1"/>
            </a:lvl1pPr>
            <a:lvl2pPr marL="0" indent="0" defTabSz="825500">
              <a:lnSpc>
                <a:spcPct val="100000"/>
              </a:lnSpc>
              <a:spcBef>
                <a:spcPts val="0"/>
              </a:spcBef>
              <a:buSzTx/>
              <a:buNone/>
              <a:defRPr sz="5500" b="1"/>
            </a:lvl2pPr>
            <a:lvl3pPr marL="0" indent="0" defTabSz="825500">
              <a:lnSpc>
                <a:spcPct val="100000"/>
              </a:lnSpc>
              <a:spcBef>
                <a:spcPts val="0"/>
              </a:spcBef>
              <a:buSzTx/>
              <a:buNone/>
              <a:defRPr sz="5500" b="1"/>
            </a:lvl3pPr>
            <a:lvl4pPr marL="0" indent="0" defTabSz="825500">
              <a:lnSpc>
                <a:spcPct val="100000"/>
              </a:lnSpc>
              <a:spcBef>
                <a:spcPts val="0"/>
              </a:spcBef>
              <a:buSzTx/>
              <a:buNone/>
              <a:defRPr sz="5500" b="1"/>
            </a:lvl4pPr>
            <a:lvl5pPr marL="0" indent="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xfrm>
            <a:off x="1206500" y="1079500"/>
            <a:ext cx="21971000" cy="1433164"/>
          </a:xfrm>
          <a:prstGeom prst="rect">
            <a:avLst/>
          </a:prstGeom>
        </p:spPr>
        <p:txBody>
          <a:bodyPr/>
          <a:lstStyle/>
          <a:p>
            <a:r>
              <a:t>Slide Title</a:t>
            </a:r>
          </a:p>
        </p:txBody>
      </p:sp>
      <p:sp>
        <p:nvSpPr>
          <p:cNvPr id="43" name="Body Level One…"/>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44" name="Body Level One…"/>
          <p:cNvSpPr txBox="1">
            <a:spLocks noGrp="1"/>
          </p:cNvSpPr>
          <p:nvPr>
            <p:ph type="body" idx="21" hasCustomPrompt="1"/>
          </p:nvPr>
        </p:nvSpPr>
        <p:spPr>
          <a:prstGeom prst="rect">
            <a:avLst/>
          </a:prstGeom>
        </p:spPr>
        <p:txBody>
          <a:bodyPr numCol="1" spcCol="38100"/>
          <a:lstStyle/>
          <a:p>
            <a:r>
              <a:t>Slide bullet text</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Body Level One…"/>
          <p:cNvSpPr txBox="1">
            <a:spLocks noGrp="1"/>
          </p:cNvSpPr>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61" name="Body Level One…"/>
          <p:cNvSpPr txBox="1">
            <a:spLocks noGrp="1"/>
          </p:cNvSpPr>
          <p:nvPr>
            <p:ph type="body" sz="half" idx="21" hasCustomPrompt="1"/>
          </p:nvPr>
        </p:nvSpPr>
        <p:spPr>
          <a:xfrm>
            <a:off x="1206500" y="4248503"/>
            <a:ext cx="9779000" cy="8256631"/>
          </a:xfrm>
          <a:prstGeom prst="rect">
            <a:avLst/>
          </a:prstGeom>
        </p:spPr>
        <p:txBody>
          <a:bodyPr numCol="1" spcCol="38100"/>
          <a:lstStyle/>
          <a:p>
            <a:r>
              <a:t>Slide bullet text</a:t>
            </a:r>
          </a:p>
        </p:txBody>
      </p:sp>
      <p:sp>
        <p:nvSpPr>
          <p:cNvPr id="62" name="Bowl of pappardelle pasta with parsley butter, roasted hazelnuts and shaved parmesan cheese"/>
          <p:cNvSpPr>
            <a:spLocks noGrp="1"/>
          </p:cNvSpPr>
          <p:nvPr>
            <p:ph type="pic" idx="22"/>
          </p:nvPr>
        </p:nvSpPr>
        <p:spPr>
          <a:xfrm>
            <a:off x="12192000" y="-407266"/>
            <a:ext cx="10916874" cy="14555833"/>
          </a:xfrm>
          <a:prstGeom prst="rect">
            <a:avLst/>
          </a:prstGeom>
        </p:spPr>
        <p:txBody>
          <a:bodyPr lIns="91439" tIns="45719" rIns="91439" bIns="45719" numCol="1" spcCol="38100">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1206496" y="4533900"/>
            <a:ext cx="21971005"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1206500" y="1079500"/>
            <a:ext cx="21971000" cy="1434950"/>
          </a:xfrm>
          <a:prstGeom prst="rect">
            <a:avLst/>
          </a:prstGeom>
        </p:spPr>
        <p:txBody>
          <a:bodyPr/>
          <a:lstStyle/>
          <a:p>
            <a:r>
              <a:t>Slide Title</a:t>
            </a:r>
          </a:p>
        </p:txBody>
      </p:sp>
      <p:sp>
        <p:nvSpPr>
          <p:cNvPr id="80" name="Body Level One…"/>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89" name="Body Level One…"/>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Agenda Subtitle</a:t>
            </a:r>
          </a:p>
          <a:p>
            <a:pPr lvl="1"/>
            <a:endParaRPr/>
          </a:p>
          <a:p>
            <a:pPr lvl="2"/>
            <a:endParaRPr/>
          </a:p>
          <a:p>
            <a:pPr lvl="3"/>
            <a:endParaRPr/>
          </a:p>
          <a:p>
            <a:pPr lvl="4"/>
            <a:endParaRPr/>
          </a:p>
        </p:txBody>
      </p:sp>
      <p:sp>
        <p:nvSpPr>
          <p:cNvPr id="90" name="Body Level One…"/>
          <p:cNvSpPr txBox="1">
            <a:spLocks noGrp="1"/>
          </p:cNvSpPr>
          <p:nvPr>
            <p:ph type="body" idx="21" hasCustomPrompt="1"/>
          </p:nvPr>
        </p:nvSpPr>
        <p:spPr>
          <a:prstGeom prst="rect">
            <a:avLst/>
          </a:prstGeom>
        </p:spPr>
        <p:txBody>
          <a:bodyPr numCol="1" spcCol="38100"/>
          <a:lstStyle>
            <a:lvl1pPr marL="0" indent="0" defTabSz="825500">
              <a:lnSpc>
                <a:spcPct val="100000"/>
              </a:lnSpc>
              <a:spcBef>
                <a:spcPts val="1800"/>
              </a:spcBef>
              <a:buSzTx/>
              <a:buNone/>
              <a:defRPr sz="5500" spc="-99"/>
            </a:lvl1pPr>
          </a:lstStyle>
          <a:p>
            <a:r>
              <a:t>Agenda Topics</a:t>
            </a:r>
          </a:p>
        </p:txBody>
      </p:sp>
      <p:sp>
        <p:nvSpPr>
          <p:cNvPr id="9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98" name="Body Level One…"/>
          <p:cNvSpPr txBox="1">
            <a:spLocks noGrp="1"/>
          </p:cNvSpPr>
          <p:nvPr>
            <p:ph type="body" sz="half" idx="1" hasCustomPrompt="1"/>
          </p:nvPr>
        </p:nvSpPr>
        <p:spPr>
          <a:xfrm>
            <a:off x="1206500" y="4920843"/>
            <a:ext cx="21971000" cy="3874314"/>
          </a:xfrm>
          <a:prstGeom prst="rect">
            <a:avLst/>
          </a:prstGeom>
        </p:spPr>
        <p:txBody>
          <a:bodyPr numCol="1" spcCol="38100"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6" name="Body Level One…"/>
          <p:cNvSpPr txBox="1">
            <a:spLocks noGrp="1"/>
          </p:cNvSpPr>
          <p:nvPr>
            <p:ph type="body" idx="1" hasCustomPrompt="1"/>
          </p:nvPr>
        </p:nvSpPr>
        <p:spPr>
          <a:xfrm>
            <a:off x="1206500" y="1075926"/>
            <a:ext cx="21971000" cy="7241586"/>
          </a:xfrm>
          <a:prstGeom prst="rect">
            <a:avLst/>
          </a:prstGeom>
        </p:spPr>
        <p:txBody>
          <a:bodyPr numCol="1" spcCol="38100" anchor="b"/>
          <a:lstStyle>
            <a:lvl1pPr marL="0" indent="0" algn="ctr">
              <a:lnSpc>
                <a:spcPct val="80000"/>
              </a:lnSpc>
              <a:spcBef>
                <a:spcPts val="0"/>
              </a:spcBef>
              <a:buSzTx/>
              <a:buNone/>
              <a:defRPr sz="25000" b="1" spc="-250"/>
            </a:lvl1pPr>
            <a:lvl2pPr marL="0" indent="0" algn="ctr">
              <a:lnSpc>
                <a:spcPct val="80000"/>
              </a:lnSpc>
              <a:spcBef>
                <a:spcPts val="0"/>
              </a:spcBef>
              <a:buSzTx/>
              <a:buNone/>
              <a:defRPr sz="25000" b="1" spc="-250"/>
            </a:lvl2pPr>
            <a:lvl3pPr marL="0" indent="0" algn="ctr">
              <a:lnSpc>
                <a:spcPct val="80000"/>
              </a:lnSpc>
              <a:spcBef>
                <a:spcPts val="0"/>
              </a:spcBef>
              <a:buSzTx/>
              <a:buNone/>
              <a:defRPr sz="25000" b="1" spc="-250"/>
            </a:lvl3pPr>
            <a:lvl4pPr marL="0" indent="0" algn="ctr">
              <a:lnSpc>
                <a:spcPct val="80000"/>
              </a:lnSpc>
              <a:spcBef>
                <a:spcPts val="0"/>
              </a:spcBef>
              <a:buSzTx/>
              <a:buNone/>
              <a:defRPr sz="25000" b="1" spc="-250"/>
            </a:lvl4pPr>
            <a:lvl5pPr marL="0" indent="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1206500" y="8262180"/>
            <a:ext cx="21971000" cy="934780"/>
          </a:xfrm>
          <a:prstGeom prst="rect">
            <a:avLst/>
          </a:prstGeom>
        </p:spPr>
        <p:txBody>
          <a:bodyPr lIns="45718" tIns="45718" rIns="45718" bIns="45718" numCol="1" spcCol="38100"/>
          <a:lstStyle>
            <a:lvl1pPr marL="0" indent="0" algn="ctr" defTabSz="825500">
              <a:lnSpc>
                <a:spcPct val="100000"/>
              </a:lnSpc>
              <a:spcBef>
                <a:spcPts val="0"/>
              </a:spcBef>
              <a:buSzTx/>
              <a:buNone/>
              <a:defRPr sz="5500" b="1"/>
            </a:lvl1pPr>
          </a:lstStyle>
          <a:p>
            <a:r>
              <a:t>Fact information</a:t>
            </a: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Body Level One…"/>
          <p:cNvSpPr txBox="1">
            <a:spLocks noGrp="1"/>
          </p:cNvSpPr>
          <p:nvPr>
            <p:ph type="body" sz="quarter" idx="1" hasCustomPrompt="1"/>
          </p:nvPr>
        </p:nvSpPr>
        <p:spPr>
          <a:xfrm>
            <a:off x="2430024" y="10675453"/>
            <a:ext cx="20200054" cy="636980"/>
          </a:xfrm>
          <a:prstGeom prst="rect">
            <a:avLst/>
          </a:prstGeom>
        </p:spPr>
        <p:txBody>
          <a:bodyPr lIns="45718" tIns="45718" rIns="45718" bIns="45718" numCol="1" spcCol="38100"/>
          <a:lstStyle>
            <a:lvl1pPr marL="0" indent="0" defTabSz="825500">
              <a:lnSpc>
                <a:spcPct val="100000"/>
              </a:lnSpc>
              <a:spcBef>
                <a:spcPts val="0"/>
              </a:spcBef>
              <a:buSzTx/>
              <a:buNone/>
              <a:defRPr sz="3600" b="1"/>
            </a:lvl1pPr>
            <a:lvl2pPr marL="1066800" indent="-457200" defTabSz="825500">
              <a:lnSpc>
                <a:spcPct val="100000"/>
              </a:lnSpc>
              <a:spcBef>
                <a:spcPts val="0"/>
              </a:spcBef>
              <a:defRPr sz="3600" b="1"/>
            </a:lvl2pPr>
            <a:lvl3pPr marL="1676400" indent="-457200" defTabSz="825500">
              <a:lnSpc>
                <a:spcPct val="100000"/>
              </a:lnSpc>
              <a:spcBef>
                <a:spcPts val="0"/>
              </a:spcBef>
              <a:defRPr sz="3600" b="1"/>
            </a:lvl3pPr>
            <a:lvl4pPr marL="2286000" indent="-457200" defTabSz="825500">
              <a:lnSpc>
                <a:spcPct val="100000"/>
              </a:lnSpc>
              <a:spcBef>
                <a:spcPts val="0"/>
              </a:spcBef>
              <a:defRPr sz="3600" b="1"/>
            </a:lvl4pPr>
            <a:lvl5pPr marL="2895600" indent="-457200" defTabSz="825500">
              <a:lnSpc>
                <a:spcPct val="100000"/>
              </a:lnSpc>
              <a:spcBef>
                <a:spcPts val="0"/>
              </a:spcBef>
              <a:defRPr sz="3600" b="1"/>
            </a:lvl5pPr>
          </a:lstStyle>
          <a:p>
            <a:r>
              <a:t>Attribution</a:t>
            </a:r>
          </a:p>
          <a:p>
            <a:pPr lvl="1"/>
            <a:endParaRPr/>
          </a:p>
          <a:p>
            <a:pPr lvl="2"/>
            <a:endParaRPr/>
          </a:p>
          <a:p>
            <a:pPr lvl="3"/>
            <a:endParaRPr/>
          </a:p>
          <a:p>
            <a:pPr lvl="4"/>
            <a:endParaRPr/>
          </a:p>
        </p:txBody>
      </p:sp>
      <p:sp>
        <p:nvSpPr>
          <p:cNvPr id="116" name="Body Level One…"/>
          <p:cNvSpPr txBox="1">
            <a:spLocks noGrp="1"/>
          </p:cNvSpPr>
          <p:nvPr>
            <p:ph type="body" sz="half" idx="21" hasCustomPrompt="1"/>
          </p:nvPr>
        </p:nvSpPr>
        <p:spPr>
          <a:xfrm>
            <a:off x="1753923" y="4939860"/>
            <a:ext cx="20876154" cy="3836281"/>
          </a:xfrm>
          <a:prstGeom prst="rect">
            <a:avLst/>
          </a:prstGeom>
        </p:spPr>
        <p:txBody>
          <a:bodyPr numCol="1" spcCol="38100"/>
          <a:lstStyle>
            <a:lvl1pPr marL="469900" indent="-300876">
              <a:spcBef>
                <a:spcPts val="0"/>
              </a:spcBef>
              <a:buSzTx/>
              <a:buNone/>
              <a:defRPr sz="8500" spc="-200">
                <a:latin typeface="Helvetica Neue Medium"/>
                <a:ea typeface="Helvetica Neue Medium"/>
                <a:cs typeface="Helvetica Neue Medium"/>
                <a:sym typeface="Helvetica Neue Medium"/>
              </a:defRPr>
            </a:lvl1pPr>
          </a:lstStyle>
          <a:p>
            <a:r>
              <a:t>“Notable Quote”</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numCol="1" spcCol="38100">
            <a:noAutofit/>
          </a:bodyPr>
          <a:lstStyle/>
          <a:p>
            <a:endParaRPr/>
          </a:p>
        </p:txBody>
      </p:sp>
      <p:sp>
        <p:nvSpPr>
          <p:cNvPr id="125" name="Bowl with salmon cakes, salad and houmous "/>
          <p:cNvSpPr>
            <a:spLocks noGrp="1"/>
          </p:cNvSpPr>
          <p:nvPr>
            <p:ph type="pic" sz="half" idx="22"/>
          </p:nvPr>
        </p:nvSpPr>
        <p:spPr>
          <a:xfrm>
            <a:off x="13500100" y="3978275"/>
            <a:ext cx="10439400" cy="12150181"/>
          </a:xfrm>
          <a:prstGeom prst="rect">
            <a:avLst/>
          </a:prstGeom>
        </p:spPr>
        <p:txBody>
          <a:bodyPr lIns="91439" tIns="45719" rIns="91439" bIns="45719" numCol="1" spcCol="38100">
            <a:noAutofit/>
          </a:bodyPr>
          <a:lstStyle/>
          <a:p>
            <a:endParaRPr/>
          </a:p>
        </p:txBody>
      </p:sp>
      <p:sp>
        <p:nvSpPr>
          <p:cNvPr id="12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numCol="1" spcCol="38100">
            <a:noAutofit/>
          </a:bodyPr>
          <a:lstStyle/>
          <a:p>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numCol="1" spcCol="38100">
            <a:noAutofit/>
          </a:bodyPr>
          <a:lstStyle/>
          <a:p>
            <a:endParaRPr/>
          </a:p>
        </p:txBody>
      </p:sp>
      <p:sp>
        <p:nvSpPr>
          <p:cNvPr id="13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hasCustomPrompt="1"/>
          </p:nvPr>
        </p:nvSpPr>
        <p:spPr>
          <a:xfrm>
            <a:off x="1206500" y="4248503"/>
            <a:ext cx="21971000" cy="82560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numCol="2" spcCol="1098550">
            <a:normAutofit/>
          </a:bodyPr>
          <a:lstStyle/>
          <a:p>
            <a:r>
              <a:t>Slide bullet text</a:t>
            </a:r>
          </a:p>
          <a:p>
            <a:pPr lvl="1"/>
            <a:endParaRPr/>
          </a:p>
          <a:p>
            <a:pPr lvl="2"/>
            <a:endParaRPr/>
          </a:p>
          <a:p>
            <a:pPr lvl="3"/>
            <a:endParaRPr/>
          </a:p>
          <a:p>
            <a:pPr lvl="4"/>
            <a:endParaRPr/>
          </a:p>
        </p:txBody>
      </p:sp>
      <p:sp>
        <p:nvSpPr>
          <p:cNvPr id="3" name="Title Text"/>
          <p:cNvSpPr txBox="1">
            <a:spLocks noGrp="1"/>
          </p:cNvSpPr>
          <p:nvPr>
            <p:ph type="title"/>
          </p:nvPr>
        </p:nvSpPr>
        <p:spPr>
          <a:xfrm>
            <a:off x="3653366" y="2743200"/>
            <a:ext cx="19507201" cy="15053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Title Text</a:t>
            </a: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1pPr>
      <a:lvl2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2pPr>
      <a:lvl3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3pPr>
      <a:lvl4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4pPr>
      <a:lvl5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5pPr>
      <a:lvl6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6pPr>
      <a:lvl7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7pPr>
      <a:lvl8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8pPr>
      <a:lvl9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j-lt"/>
          <a:ea typeface="+mj-ea"/>
          <a:cs typeface="+mj-cs"/>
          <a:sym typeface="Helvetica Neue"/>
        </a:defRPr>
      </a:lvl9pPr>
    </p:titleStyle>
    <p:bodyStyle>
      <a:lvl1pPr marL="6096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1pPr>
      <a:lvl2pPr marL="12192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2pPr>
      <a:lvl3pPr marL="18288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3pPr>
      <a:lvl4pPr marL="24384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4pPr>
      <a:lvl5pPr marL="30480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5pPr>
      <a:lvl6pPr marL="36576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6pPr>
      <a:lvl7pPr marL="42672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7pPr>
      <a:lvl8pPr marL="48768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8pPr>
      <a:lvl9pPr marL="54864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j-lt"/>
          <a:ea typeface="+mj-ea"/>
          <a:cs typeface="+mj-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PranavNambiar123/PM2.5-Prediction-Project-IIT-Kanpur"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PranavNambiar123/PM2.5-Prediction-Project-IIT-Kanpur/blob/pranavProject/Final%20Code/data_cleaning.py#L93" TargetMode="External"/><Relationship Id="rId2" Type="http://schemas.openxmlformats.org/officeDocument/2006/relationships/hyperlink" Target="https://github.com/PranavNambiar123/PM2.5-Prediction-Project-IIT-Kanpur/tree/pranavProject/spatial_cleaned_data" TargetMode="External"/><Relationship Id="rId1" Type="http://schemas.openxmlformats.org/officeDocument/2006/relationships/slideLayout" Target="../slideLayouts/slideLayout4.xml"/><Relationship Id="rId4" Type="http://schemas.openxmlformats.org/officeDocument/2006/relationships/hyperlink" Target="https://github.com/PranavNambiar123/PM2.5-Prediction-Project-IIT-Kanpur/blob/pranavProject/Final%20Code/lstm_distance.py#L33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M2.5 prediction"/>
          <p:cNvSpPr txBox="1">
            <a:spLocks noGrp="1"/>
          </p:cNvSpPr>
          <p:nvPr>
            <p:ph type="title"/>
          </p:nvPr>
        </p:nvSpPr>
        <p:spPr>
          <a:xfrm>
            <a:off x="1206495" y="2574991"/>
            <a:ext cx="21971006" cy="4648202"/>
          </a:xfrm>
          <a:prstGeom prst="rect">
            <a:avLst/>
          </a:prstGeom>
        </p:spPr>
        <p:txBody>
          <a:bodyPr/>
          <a:lstStyle>
            <a:lvl1pPr algn="ctr" defTabSz="914400">
              <a:lnSpc>
                <a:spcPct val="90000"/>
              </a:lnSpc>
              <a:defRPr sz="6000" b="0" spc="0">
                <a:latin typeface="Aptos Display"/>
                <a:ea typeface="Aptos Display"/>
                <a:cs typeface="Aptos Display"/>
                <a:sym typeface="Aptos Display"/>
              </a:defRPr>
            </a:lvl1pPr>
          </a:lstStyle>
          <a:p>
            <a:r>
              <a:t>PM2.5 prediction</a:t>
            </a:r>
          </a:p>
        </p:txBody>
      </p:sp>
      <p:sp>
        <p:nvSpPr>
          <p:cNvPr id="152" name="- Pranav Nambiar"/>
          <p:cNvSpPr txBox="1">
            <a:spLocks noGrp="1"/>
          </p:cNvSpPr>
          <p:nvPr>
            <p:ph type="body" sz="quarter" idx="1"/>
          </p:nvPr>
        </p:nvSpPr>
        <p:spPr>
          <a:xfrm>
            <a:off x="1201342" y="7223190"/>
            <a:ext cx="21971002" cy="1905002"/>
          </a:xfrm>
          <a:prstGeom prst="rect">
            <a:avLst/>
          </a:prstGeom>
        </p:spPr>
        <p:txBody>
          <a:bodyPr lIns="50800" tIns="50800" rIns="50800" bIns="50800"/>
          <a:lstStyle>
            <a:lvl1pPr algn="ctr" defTabSz="914400">
              <a:lnSpc>
                <a:spcPct val="90000"/>
              </a:lnSpc>
              <a:spcBef>
                <a:spcPts val="1000"/>
              </a:spcBef>
              <a:defRPr sz="2400" b="0">
                <a:latin typeface="Aptos"/>
                <a:ea typeface="Aptos"/>
                <a:cs typeface="Aptos"/>
                <a:sym typeface="Aptos"/>
              </a:defRPr>
            </a:lvl1pPr>
          </a:lstStyle>
          <a:p>
            <a:r>
              <a:t>- Pranav Nambiar</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Details"/>
          <p:cNvSpPr txBox="1">
            <a:spLocks noGrp="1"/>
          </p:cNvSpPr>
          <p:nvPr>
            <p:ph type="title"/>
          </p:nvPr>
        </p:nvSpPr>
        <p:spPr>
          <a:prstGeom prst="rect">
            <a:avLst/>
          </a:prstGeom>
        </p:spPr>
        <p:txBody>
          <a:bodyPr/>
          <a:lstStyle>
            <a:lvl1pPr defTabSz="914400">
              <a:lnSpc>
                <a:spcPct val="90000"/>
              </a:lnSpc>
              <a:defRPr sz="5400" b="0" spc="0">
                <a:latin typeface="Aptos Display"/>
                <a:ea typeface="Aptos Display"/>
                <a:cs typeface="Aptos Display"/>
                <a:sym typeface="Aptos Display"/>
              </a:defRPr>
            </a:lvl1pPr>
          </a:lstStyle>
          <a:p>
            <a:r>
              <a:t>Details</a:t>
            </a:r>
          </a:p>
        </p:txBody>
      </p:sp>
      <p:sp>
        <p:nvSpPr>
          <p:cNvPr id="155" name="Github: https://github.com/PranavNambiar123/PM2.5-Prediction-Project-IIT-Kanpur…"/>
          <p:cNvSpPr txBox="1">
            <a:spLocks noGrp="1"/>
          </p:cNvSpPr>
          <p:nvPr>
            <p:ph type="body" idx="1"/>
          </p:nvPr>
        </p:nvSpPr>
        <p:spPr>
          <a:xfrm>
            <a:off x="574668" y="3640073"/>
            <a:ext cx="21971001" cy="8256014"/>
          </a:xfrm>
          <a:prstGeom prst="rect">
            <a:avLst/>
          </a:prstGeom>
        </p:spPr>
        <p:txBody>
          <a:bodyPr lIns="50800" tIns="50800" rIns="50800" bIns="50800"/>
          <a:lstStyle/>
          <a:p>
            <a:pPr marL="228600" indent="-228600" defTabSz="914400">
              <a:lnSpc>
                <a:spcPct val="90000"/>
              </a:lnSpc>
              <a:spcBef>
                <a:spcPts val="1000"/>
              </a:spcBef>
              <a:buSzPct val="100000"/>
              <a:buFont typeface="Arial"/>
              <a:buChar char="•"/>
              <a:defRPr sz="3600" b="0" u="sng">
                <a:solidFill>
                  <a:srgbClr val="467886"/>
                </a:solidFill>
                <a:uFill>
                  <a:solidFill>
                    <a:srgbClr val="467886"/>
                  </a:solidFill>
                </a:uFill>
                <a:latin typeface="Aptos"/>
                <a:ea typeface="Aptos"/>
                <a:cs typeface="Aptos"/>
                <a:sym typeface="Aptos"/>
              </a:defRPr>
            </a:pPr>
            <a:r>
              <a:rPr>
                <a:solidFill>
                  <a:srgbClr val="0000FF"/>
                </a:solidFill>
                <a:uFill>
                  <a:solidFill>
                    <a:srgbClr val="0000FF"/>
                  </a:solidFill>
                </a:uFill>
                <a:hlinkClick r:id="rId2"/>
              </a:rPr>
              <a:t>Github: https://github.com/PranavNambiar123/PM2.5-Prediction-Project-IIT-Kanpur</a:t>
            </a:r>
          </a:p>
          <a:p>
            <a:pPr marL="228600" indent="-228600" defTabSz="914400">
              <a:lnSpc>
                <a:spcPct val="90000"/>
              </a:lnSpc>
              <a:spcBef>
                <a:spcPts val="1000"/>
              </a:spcBef>
              <a:buSzPct val="100000"/>
              <a:buFont typeface="Arial"/>
              <a:buChar char="•"/>
              <a:defRPr sz="3600" b="0">
                <a:latin typeface="Aptos"/>
                <a:ea typeface="Aptos"/>
                <a:cs typeface="Aptos"/>
                <a:sym typeface="Aptos"/>
              </a:defRPr>
            </a:pPr>
            <a:r>
              <a:t>Roll number: 233562458</a:t>
            </a:r>
          </a:p>
          <a:p>
            <a:pPr marL="228600" indent="-228600" defTabSz="914400">
              <a:lnSpc>
                <a:spcPct val="90000"/>
              </a:lnSpc>
              <a:spcBef>
                <a:spcPts val="1000"/>
              </a:spcBef>
              <a:buSzPct val="100000"/>
              <a:buFont typeface="Arial"/>
              <a:buChar char="•"/>
              <a:defRPr sz="3600" b="0">
                <a:latin typeface="Aptos"/>
                <a:ea typeface="Aptos"/>
                <a:cs typeface="Aptos"/>
                <a:sym typeface="Aptos"/>
              </a:defRPr>
            </a:pPr>
            <a:r>
              <a:t>IITK email: nambiarpv23@iitk.ac.in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reviously"/>
          <p:cNvSpPr txBox="1">
            <a:spLocks noGrp="1"/>
          </p:cNvSpPr>
          <p:nvPr>
            <p:ph type="title"/>
          </p:nvPr>
        </p:nvSpPr>
        <p:spPr>
          <a:prstGeom prst="rect">
            <a:avLst/>
          </a:prstGeom>
        </p:spPr>
        <p:txBody>
          <a:bodyPr/>
          <a:lstStyle>
            <a:lvl1pPr>
              <a:defRPr spc="-200"/>
            </a:lvl1pPr>
          </a:lstStyle>
          <a:p>
            <a:r>
              <a:t>Previously</a:t>
            </a:r>
          </a:p>
        </p:txBody>
      </p:sp>
      <p:sp>
        <p:nvSpPr>
          <p:cNvPr id="158" name="We cleaned data using different cleaning methods: linear interpolation, spatial average or mean, median method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IN" dirty="0"/>
              <a:t>We implemented basic LSTM</a:t>
            </a:r>
          </a:p>
          <a:p>
            <a:r>
              <a:rPr lang="en-IN" dirty="0"/>
              <a:t>This time we try and improve it’s predictions using better features, spatial data and more complicated model</a:t>
            </a: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Gradient Boosting"/>
          <p:cNvSpPr txBox="1">
            <a:spLocks noGrp="1"/>
          </p:cNvSpPr>
          <p:nvPr>
            <p:ph type="title"/>
          </p:nvPr>
        </p:nvSpPr>
        <p:spPr>
          <a:prstGeom prst="rect">
            <a:avLst/>
          </a:prstGeom>
        </p:spPr>
        <p:txBody>
          <a:bodyPr/>
          <a:lstStyle>
            <a:lvl1pPr>
              <a:defRPr spc="-200"/>
            </a:lvl1pPr>
          </a:lstStyle>
          <a:p>
            <a:r>
              <a:rPr lang="en-IN" dirty="0"/>
              <a:t>Enhanced Feature Engineering</a:t>
            </a:r>
          </a:p>
        </p:txBody>
      </p:sp>
      <p:sp>
        <p:nvSpPr>
          <p:cNvPr id="161" name="XGBoost is a good algorithm for PM2.5 prediction generally…"/>
          <p:cNvSpPr txBox="1">
            <a:spLocks noGrp="1"/>
          </p:cNvSpPr>
          <p:nvPr>
            <p:ph type="body" idx="21"/>
          </p:nvPr>
        </p:nvSpPr>
        <p:spPr>
          <a:xfrm>
            <a:off x="1070313" y="3421382"/>
            <a:ext cx="21971000" cy="1029461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ea typeface="Aptos" panose="020B0004020202020204" pitchFamily="34" charset="0"/>
                <a:cs typeface="Times New Roman" panose="02020603050405020304" pitchFamily="18" charset="0"/>
              </a:rPr>
              <a:t>Fetched location coordinates and used nearby localities to fill missing data:</a:t>
            </a:r>
            <a:endParaRPr lang="en-IN" sz="2400" kern="100" dirty="0">
              <a:effectLst/>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Used OpenStreetMap to fetch coordinates for all localities (</a:t>
            </a:r>
            <a:r>
              <a:rPr lang="en-IN" sz="2400" u="sng" kern="100" dirty="0">
                <a:solidFill>
                  <a:srgbClr val="467886"/>
                </a:solidFill>
                <a:effectLst/>
                <a:ea typeface="Aptos" panose="020B0004020202020204" pitchFamily="34" charset="0"/>
                <a:cs typeface="Times New Roman" panose="02020603050405020304" pitchFamily="18" charset="0"/>
                <a:hlinkClick r:id="rId2"/>
              </a:rPr>
              <a:t>Spatial cleaned data</a:t>
            </a:r>
            <a:r>
              <a:rPr lang="en-IN" sz="2400" kern="100" dirty="0">
                <a:effectLst/>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Only considered localities within 10km as nearby localities and used their weighted data to fill missing data </a:t>
            </a:r>
            <a:r>
              <a:rPr lang="en-IN" sz="2400" u="sng" kern="100" dirty="0">
                <a:solidFill>
                  <a:srgbClr val="467886"/>
                </a:solidFill>
                <a:effectLst/>
                <a:ea typeface="Aptos" panose="020B0004020202020204" pitchFamily="34" charset="0"/>
                <a:cs typeface="Times New Roman" panose="02020603050405020304" pitchFamily="18" charset="0"/>
                <a:hlinkClick r:id="rId3"/>
              </a:rPr>
              <a:t>ref</a:t>
            </a:r>
            <a:endParaRPr lang="en-IN" sz="2400" kern="100" dirty="0">
              <a:effectLst/>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ea typeface="Aptos" panose="020B0004020202020204" pitchFamily="34" charset="0"/>
                <a:cs typeface="Times New Roman" panose="02020603050405020304" pitchFamily="18" charset="0"/>
              </a:rPr>
              <a:t>Expanded Temporal Features</a:t>
            </a:r>
            <a:r>
              <a:rPr lang="en-IN" sz="2400" kern="100" dirty="0">
                <a:effectLst/>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Added day of week and weekend indicator features</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Created sin/cos transformations for cyclical variables to better capture periodicity. It captures hour 23 is close to hour 0 and December is close to January </a:t>
            </a:r>
            <a:r>
              <a:rPr lang="en-IN" sz="2400" u="sng" kern="100" dirty="0">
                <a:solidFill>
                  <a:srgbClr val="467886"/>
                </a:solidFill>
                <a:effectLst/>
                <a:ea typeface="Aptos" panose="020B0004020202020204" pitchFamily="34" charset="0"/>
                <a:cs typeface="Times New Roman" panose="02020603050405020304" pitchFamily="18" charset="0"/>
                <a:hlinkClick r:id="rId4"/>
              </a:rPr>
              <a:t>ref</a:t>
            </a:r>
            <a:endParaRPr lang="en-IN" sz="2400" kern="100" dirty="0">
              <a:effectLst/>
              <a:ea typeface="Aptos" panose="020B0004020202020204" pitchFamily="34" charset="0"/>
              <a:cs typeface="Times New Roman" panose="02020603050405020304" pitchFamily="18" charset="0"/>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7B222-D841-5CFA-791B-C5CD7F63E068}"/>
            </a:ext>
          </a:extLst>
        </p:cNvPr>
        <p:cNvGrpSpPr/>
        <p:nvPr/>
      </p:nvGrpSpPr>
      <p:grpSpPr>
        <a:xfrm>
          <a:off x="0" y="0"/>
          <a:ext cx="0" cy="0"/>
          <a:chOff x="0" y="0"/>
          <a:chExt cx="0" cy="0"/>
        </a:xfrm>
      </p:grpSpPr>
      <p:sp>
        <p:nvSpPr>
          <p:cNvPr id="160" name="Gradient Boosting">
            <a:extLst>
              <a:ext uri="{FF2B5EF4-FFF2-40B4-BE49-F238E27FC236}">
                <a16:creationId xmlns:a16="http://schemas.microsoft.com/office/drawing/2014/main" id="{C280302A-6F04-A82F-6487-96F1F75FD273}"/>
              </a:ext>
            </a:extLst>
          </p:cNvPr>
          <p:cNvSpPr txBox="1">
            <a:spLocks noGrp="1"/>
          </p:cNvSpPr>
          <p:nvPr>
            <p:ph type="title"/>
          </p:nvPr>
        </p:nvSpPr>
        <p:spPr>
          <a:prstGeom prst="rect">
            <a:avLst/>
          </a:prstGeom>
        </p:spPr>
        <p:txBody>
          <a:bodyPr/>
          <a:lstStyle>
            <a:lvl1pPr>
              <a:defRPr spc="-200"/>
            </a:lvl1pPr>
          </a:lstStyle>
          <a:p>
            <a:r>
              <a:rPr lang="en-IN" dirty="0"/>
              <a:t>Enhanced Feature Engineering (contd.)</a:t>
            </a:r>
          </a:p>
        </p:txBody>
      </p:sp>
      <p:sp>
        <p:nvSpPr>
          <p:cNvPr id="161" name="XGBoost is a good algorithm for PM2.5 prediction generally…">
            <a:extLst>
              <a:ext uri="{FF2B5EF4-FFF2-40B4-BE49-F238E27FC236}">
                <a16:creationId xmlns:a16="http://schemas.microsoft.com/office/drawing/2014/main" id="{4815053C-6236-088E-A060-D5B0DD92EE06}"/>
              </a:ext>
            </a:extLst>
          </p:cNvPr>
          <p:cNvSpPr txBox="1">
            <a:spLocks noGrp="1"/>
          </p:cNvSpPr>
          <p:nvPr>
            <p:ph type="body" idx="21"/>
          </p:nvPr>
        </p:nvSpPr>
        <p:spPr>
          <a:xfrm>
            <a:off x="1070313" y="3421382"/>
            <a:ext cx="21971000" cy="1029461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ea typeface="Aptos" panose="020B0004020202020204" pitchFamily="34" charset="0"/>
                <a:cs typeface="Times New Roman" panose="02020603050405020304" pitchFamily="18" charset="0"/>
              </a:rPr>
              <a:t>Advanced Statistical Features</a:t>
            </a:r>
            <a:r>
              <a:rPr lang="en-IN" sz="2400" kern="100" dirty="0">
                <a:effectLst/>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Added rolling window statistics to capture short term trends (6 hour </a:t>
            </a:r>
            <a:r>
              <a:rPr lang="en-IN" sz="2400" kern="100" dirty="0" err="1">
                <a:effectLst/>
                <a:ea typeface="Aptos" panose="020B0004020202020204" pitchFamily="34" charset="0"/>
                <a:cs typeface="Times New Roman" panose="02020603050405020304" pitchFamily="18" charset="0"/>
              </a:rPr>
              <a:t>avg</a:t>
            </a:r>
            <a:r>
              <a:rPr lang="en-IN" sz="2400" kern="100" dirty="0">
                <a:effectLst/>
                <a:ea typeface="Aptos" panose="020B0004020202020204" pitchFamily="34" charset="0"/>
                <a:cs typeface="Times New Roman" panose="02020603050405020304" pitchFamily="18" charset="0"/>
              </a:rPr>
              <a:t>), medium trends (12 hr) and daily trends (24 hr </a:t>
            </a:r>
            <a:r>
              <a:rPr lang="en-IN" sz="2400" kern="100" dirty="0" err="1">
                <a:effectLst/>
                <a:ea typeface="Aptos" panose="020B0004020202020204" pitchFamily="34" charset="0"/>
                <a:cs typeface="Times New Roman" panose="02020603050405020304" pitchFamily="18" charset="0"/>
              </a:rPr>
              <a:t>avg</a:t>
            </a:r>
            <a:r>
              <a:rPr lang="en-IN" sz="2400" kern="100" dirty="0">
                <a:effectLst/>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Added 12-hour min/max values</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Implemented long-term lag features (12h and 24h) to capture trends in PM2.5 values</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Added more rate-of-change features (6h and 12h) ) to capture trends in PM2.5 values</a:t>
            </a: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ea typeface="Aptos" panose="020B0004020202020204" pitchFamily="34" charset="0"/>
                <a:cs typeface="Times New Roman" panose="02020603050405020304" pitchFamily="18" charset="0"/>
              </a:rPr>
              <a:t>Improved Data Preprocessing</a:t>
            </a:r>
            <a:r>
              <a:rPr lang="en-IN" sz="2400" kern="100" dirty="0">
                <a:effectLst/>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Implemented log transformation for the target variable (PM2.5)</a:t>
            </a:r>
          </a:p>
          <a:p>
            <a:pPr marL="742950" lvl="1" indent="-285750">
              <a:lnSpc>
                <a:spcPct val="115000"/>
              </a:lnSpc>
              <a:spcAft>
                <a:spcPts val="800"/>
              </a:spcAft>
              <a:buSzPts val="1000"/>
              <a:buFont typeface="Symbol" panose="05050102010706020507" pitchFamily="18" charset="2"/>
              <a:buChar char=""/>
              <a:tabLst>
                <a:tab pos="914400" algn="l"/>
              </a:tabLst>
            </a:pPr>
            <a:r>
              <a:rPr lang="en-IN" sz="2400" kern="100" dirty="0">
                <a:effectLst/>
                <a:ea typeface="Aptos" panose="020B0004020202020204" pitchFamily="34" charset="0"/>
                <a:cs typeface="Times New Roman" panose="02020603050405020304" pitchFamily="18" charset="0"/>
              </a:rPr>
              <a:t>Applied robust scaling for features to handle outliers better</a:t>
            </a:r>
          </a:p>
        </p:txBody>
      </p:sp>
    </p:spTree>
    <p:extLst>
      <p:ext uri="{BB962C8B-B14F-4D97-AF65-F5344CB8AC3E}">
        <p14:creationId xmlns:p14="http://schemas.microsoft.com/office/powerpoint/2010/main" val="120971968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652E2-C03C-86B0-598B-1BCC8BA985F2}"/>
              </a:ext>
            </a:extLst>
          </p:cNvPr>
          <p:cNvSpPr>
            <a:spLocks noGrp="1"/>
          </p:cNvSpPr>
          <p:nvPr>
            <p:ph type="title"/>
          </p:nvPr>
        </p:nvSpPr>
        <p:spPr/>
        <p:txBody>
          <a:bodyPr/>
          <a:lstStyle/>
          <a:p>
            <a:r>
              <a:rPr lang="en-IN" dirty="0"/>
              <a:t>Spatial Data resolution</a:t>
            </a:r>
          </a:p>
        </p:txBody>
      </p:sp>
      <p:sp>
        <p:nvSpPr>
          <p:cNvPr id="6" name="Rectangle 2">
            <a:extLst>
              <a:ext uri="{FF2B5EF4-FFF2-40B4-BE49-F238E27FC236}">
                <a16:creationId xmlns:a16="http://schemas.microsoft.com/office/drawing/2014/main" id="{8F69A08E-6B8C-1C35-4870-09E5C005ED0D}"/>
              </a:ext>
            </a:extLst>
          </p:cNvPr>
          <p:cNvSpPr>
            <a:spLocks noGrp="1" noChangeArrowheads="1"/>
          </p:cNvSpPr>
          <p:nvPr>
            <p:ph type="body" idx="21"/>
          </p:nvPr>
        </p:nvSpPr>
        <p:spPr bwMode="auto">
          <a:xfrm>
            <a:off x="1420508" y="2512664"/>
            <a:ext cx="18968666" cy="17111800"/>
          </a:xfrm>
          <a:prstGeom prst="rect">
            <a:avLst/>
          </a:prstGeom>
          <a:ln w="12700">
            <a:miter lim="400000"/>
          </a:ln>
        </p:spPr>
        <p:txBody>
          <a:bodyPr lIns="50800" tIns="50800" rIns="50800" bIns="50800" numCol="1" spcCol="3810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n-US" altLang="en-US" sz="2400" kern="100" dirty="0">
                <a:ea typeface="Aptos" panose="020B0004020202020204" pitchFamily="34" charset="0"/>
                <a:cs typeface="Times New Roman" panose="02020603050405020304" pitchFamily="18" charset="0"/>
              </a:rPr>
              <a:t>Locality Geolocation Mapping:</a:t>
            </a:r>
          </a:p>
          <a:p>
            <a:pPr marL="742950" lvl="1" indent="-285750">
              <a:lnSpc>
                <a:spcPct val="115000"/>
              </a:lnSpc>
              <a:spcAft>
                <a:spcPts val="800"/>
              </a:spcAft>
              <a:buSzPts val="1000"/>
              <a:buFont typeface="Courier New" panose="02070309020205020404" pitchFamily="49" charset="0"/>
              <a:buChar char="o"/>
              <a:tabLst>
                <a:tab pos="914400" algn="l"/>
              </a:tabLst>
            </a:pPr>
            <a:r>
              <a:rPr lang="en-US" altLang="en-US" sz="2400" kern="100" dirty="0">
                <a:ea typeface="Aptos" panose="020B0004020202020204" pitchFamily="34" charset="0"/>
                <a:cs typeface="Times New Roman" panose="02020603050405020304" pitchFamily="18" charset="0"/>
              </a:rPr>
              <a:t>Each monitoring station (e.g., Sion, Colaba, Kurla) was mapped to its (latitude, longitude) coordinates.</a:t>
            </a:r>
          </a:p>
          <a:p>
            <a:pPr marL="342900" indent="-342900">
              <a:lnSpc>
                <a:spcPct val="115000"/>
              </a:lnSpc>
              <a:spcAft>
                <a:spcPts val="800"/>
              </a:spcAft>
              <a:buSzPts val="1000"/>
              <a:buFont typeface="Symbol" panose="05050102010706020507" pitchFamily="18" charset="2"/>
              <a:buChar char=""/>
              <a:tabLst>
                <a:tab pos="457200" algn="l"/>
              </a:tabLst>
            </a:pPr>
            <a:r>
              <a:rPr lang="en-US" altLang="en-US" sz="2400" kern="100" dirty="0">
                <a:ea typeface="Aptos" panose="020B0004020202020204" pitchFamily="34" charset="0"/>
                <a:cs typeface="Times New Roman" panose="02020603050405020304" pitchFamily="18" charset="0"/>
              </a:rPr>
              <a:t>Distance Calculations:</a:t>
            </a:r>
          </a:p>
          <a:p>
            <a:pPr marL="742950" lvl="1" indent="-285750">
              <a:lnSpc>
                <a:spcPct val="115000"/>
              </a:lnSpc>
              <a:spcAft>
                <a:spcPts val="800"/>
              </a:spcAft>
              <a:buSzPts val="1000"/>
              <a:buFont typeface="Courier New" panose="02070309020205020404" pitchFamily="49" charset="0"/>
              <a:buChar char="o"/>
              <a:tabLst>
                <a:tab pos="914400" algn="l"/>
              </a:tabLst>
            </a:pPr>
            <a:r>
              <a:rPr lang="en-US" altLang="en-US" sz="2400" kern="100" dirty="0">
                <a:ea typeface="Aptos" panose="020B0004020202020204" pitchFamily="34" charset="0"/>
                <a:cs typeface="Times New Roman" panose="02020603050405020304" pitchFamily="18" charset="0"/>
              </a:rPr>
              <a:t>Computed pairwise Euclidean distances between stations.</a:t>
            </a:r>
          </a:p>
          <a:p>
            <a:pPr marL="742950" lvl="1" indent="-285750">
              <a:lnSpc>
                <a:spcPct val="115000"/>
              </a:lnSpc>
              <a:spcAft>
                <a:spcPts val="800"/>
              </a:spcAft>
              <a:buSzPts val="1000"/>
              <a:buFont typeface="Courier New" panose="02070309020205020404" pitchFamily="49" charset="0"/>
              <a:buChar char="o"/>
              <a:tabLst>
                <a:tab pos="914400" algn="l"/>
              </a:tabLst>
            </a:pPr>
            <a:r>
              <a:rPr lang="en-US" altLang="en-US" sz="2400" kern="100" dirty="0">
                <a:ea typeface="Aptos" panose="020B0004020202020204" pitchFamily="34" charset="0"/>
                <a:cs typeface="Times New Roman" panose="02020603050405020304" pitchFamily="18" charset="0"/>
              </a:rPr>
              <a:t>Used exponential decay </a:t>
            </a:r>
            <a:r>
              <a:rPr lang="en-US" altLang="en-US" sz="2400" kern="100" dirty="0" err="1">
                <a:ea typeface="Aptos" panose="020B0004020202020204" pitchFamily="34" charset="0"/>
                <a:cs typeface="Times New Roman" panose="02020603050405020304" pitchFamily="18" charset="0"/>
              </a:rPr>
              <a:t>weighting:Weighted</a:t>
            </a:r>
            <a:r>
              <a:rPr lang="en-US" altLang="en-US" sz="2400" kern="100" dirty="0">
                <a:ea typeface="Aptos" panose="020B0004020202020204" pitchFamily="34" charset="0"/>
                <a:cs typeface="Times New Roman" panose="02020603050405020304" pitchFamily="18" charset="0"/>
              </a:rPr>
              <a:t> Spatial Features:</a:t>
            </a:r>
          </a:p>
          <a:p>
            <a:pPr marL="342900" indent="-342900">
              <a:lnSpc>
                <a:spcPct val="115000"/>
              </a:lnSpc>
              <a:spcAft>
                <a:spcPts val="800"/>
              </a:spcAft>
              <a:buSzPts val="1000"/>
              <a:buFont typeface="Symbol" panose="05050102010706020507" pitchFamily="18" charset="2"/>
              <a:buChar char=""/>
              <a:tabLst>
                <a:tab pos="457200" algn="l"/>
              </a:tabLst>
            </a:pPr>
            <a:r>
              <a:rPr lang="en-US" altLang="en-US" sz="2400" kern="100" dirty="0">
                <a:ea typeface="Aptos" panose="020B0004020202020204" pitchFamily="34" charset="0"/>
                <a:cs typeface="Times New Roman" panose="02020603050405020304" pitchFamily="18" charset="0"/>
              </a:rPr>
              <a:t>Created new features using weighted averages of PM2.5 from nearby stations:</a:t>
            </a:r>
          </a:p>
          <a:p>
            <a:pPr marL="342900" indent="-342900">
              <a:lnSpc>
                <a:spcPct val="115000"/>
              </a:lnSpc>
              <a:spcAft>
                <a:spcPts val="800"/>
              </a:spcAft>
              <a:buSzPts val="1000"/>
              <a:buFont typeface="Symbol" panose="05050102010706020507" pitchFamily="18" charset="2"/>
              <a:buChar char=""/>
              <a:tabLst>
                <a:tab pos="457200" algn="l"/>
              </a:tabLst>
            </a:pPr>
            <a:r>
              <a:rPr lang="en-US" altLang="en-US" sz="2400" kern="100" dirty="0">
                <a:ea typeface="Aptos" panose="020B0004020202020204" pitchFamily="34" charset="0"/>
                <a:cs typeface="Times New Roman" panose="02020603050405020304" pitchFamily="18" charset="0"/>
              </a:rPr>
              <a:t>For time steps with missing PM2.5:</a:t>
            </a:r>
          </a:p>
          <a:p>
            <a:pPr marL="742950" lvl="1" indent="-285750">
              <a:lnSpc>
                <a:spcPct val="115000"/>
              </a:lnSpc>
              <a:spcAft>
                <a:spcPts val="800"/>
              </a:spcAft>
              <a:buSzPts val="1000"/>
              <a:buFont typeface="Courier New" panose="02070309020205020404" pitchFamily="49" charset="0"/>
              <a:buChar char="o"/>
              <a:tabLst>
                <a:tab pos="914400" algn="l"/>
              </a:tabLst>
            </a:pPr>
            <a:r>
              <a:rPr lang="en-US" altLang="en-US" sz="2400" kern="100" dirty="0">
                <a:ea typeface="Aptos" panose="020B0004020202020204" pitchFamily="34" charset="0"/>
                <a:cs typeface="Times New Roman" panose="02020603050405020304" pitchFamily="18" charset="0"/>
              </a:rPr>
              <a:t>Retrieved values from nearby stations.</a:t>
            </a:r>
          </a:p>
          <a:p>
            <a:pPr marL="742950" lvl="1" indent="-285750">
              <a:lnSpc>
                <a:spcPct val="115000"/>
              </a:lnSpc>
              <a:spcAft>
                <a:spcPts val="800"/>
              </a:spcAft>
              <a:buSzPts val="1000"/>
              <a:buFont typeface="Courier New" panose="02070309020205020404" pitchFamily="49" charset="0"/>
              <a:buChar char="o"/>
              <a:tabLst>
                <a:tab pos="914400" algn="l"/>
              </a:tabLst>
            </a:pPr>
            <a:r>
              <a:rPr lang="en-US" altLang="en-US" sz="2400" kern="100" dirty="0">
                <a:ea typeface="Aptos" panose="020B0004020202020204" pitchFamily="34" charset="0"/>
                <a:cs typeface="Times New Roman" panose="02020603050405020304" pitchFamily="18" charset="0"/>
              </a:rPr>
              <a:t>Applied the same exponential weighting to impute the local value.</a:t>
            </a:r>
          </a:p>
        </p:txBody>
      </p:sp>
    </p:spTree>
    <p:extLst>
      <p:ext uri="{BB962C8B-B14F-4D97-AF65-F5344CB8AC3E}">
        <p14:creationId xmlns:p14="http://schemas.microsoft.com/office/powerpoint/2010/main" val="251755037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Issue faced and optimisations"/>
          <p:cNvSpPr txBox="1">
            <a:spLocks noGrp="1"/>
          </p:cNvSpPr>
          <p:nvPr>
            <p:ph type="title"/>
          </p:nvPr>
        </p:nvSpPr>
        <p:spPr>
          <a:prstGeom prst="rect">
            <a:avLst/>
          </a:prstGeom>
        </p:spPr>
        <p:txBody>
          <a:bodyPr>
            <a:normAutofit/>
          </a:bodyPr>
          <a:lstStyle>
            <a:lvl1pPr>
              <a:defRPr spc="-200"/>
            </a:lvl1pPr>
          </a:lstStyle>
          <a:p>
            <a:r>
              <a:rPr lang="en-IN" sz="8000" b="1" dirty="0">
                <a:effectLst/>
                <a:latin typeface="Aptos" panose="020B0004020202020204" pitchFamily="34" charset="0"/>
                <a:ea typeface="Aptos" panose="020B0004020202020204" pitchFamily="34" charset="0"/>
                <a:cs typeface="Times New Roman" panose="02020603050405020304" pitchFamily="18" charset="0"/>
              </a:rPr>
              <a:t>Final LSTM Architecture</a:t>
            </a:r>
            <a:endParaRPr sz="8000" dirty="0"/>
          </a:p>
        </p:txBody>
      </p:sp>
      <p:sp>
        <p:nvSpPr>
          <p:cNvPr id="164" name="Faced a lot of issues with size and memory used for training as the system was not able to handle the full load during training  Here are the key optimizations we made to improve memory usage and prevent overheating:…"/>
          <p:cNvSpPr txBox="1">
            <a:spLocks noGrp="1"/>
          </p:cNvSpPr>
          <p:nvPr>
            <p:ph type="body" idx="21"/>
          </p:nvPr>
        </p:nvSpPr>
        <p:spPr>
          <a:xfrm>
            <a:off x="1109971" y="2111371"/>
            <a:ext cx="22067529" cy="114100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2400" kern="100" dirty="0">
                <a:effectLst/>
                <a:ea typeface="Aptos" panose="020B0004020202020204" pitchFamily="34" charset="0"/>
                <a:cs typeface="Times New Roman" panose="02020603050405020304" pitchFamily="18" charset="0"/>
              </a:rPr>
              <a:t>Layers:</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Input → Bi-LSTM (64) → Dropout(0.3) → Residual Bi-LSTM (64)</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Dense(128) → </a:t>
            </a:r>
            <a:r>
              <a:rPr lang="en-IN" sz="2400" kern="100" dirty="0" err="1">
                <a:effectLst/>
                <a:ea typeface="Aptos" panose="020B0004020202020204" pitchFamily="34" charset="0"/>
                <a:cs typeface="Times New Roman" panose="02020603050405020304" pitchFamily="18" charset="0"/>
              </a:rPr>
              <a:t>BatchNorm</a:t>
            </a:r>
            <a:r>
              <a:rPr lang="en-IN" sz="2400" kern="100" dirty="0">
                <a:effectLst/>
                <a:ea typeface="Aptos" panose="020B0004020202020204" pitchFamily="34" charset="0"/>
                <a:cs typeface="Times New Roman" panose="02020603050405020304" pitchFamily="18" charset="0"/>
              </a:rPr>
              <a:t> → Dense(1)</a:t>
            </a:r>
          </a:p>
          <a:p>
            <a:pPr marL="342900" lvl="0" indent="-342900">
              <a:lnSpc>
                <a:spcPct val="115000"/>
              </a:lnSpc>
              <a:spcAft>
                <a:spcPts val="800"/>
              </a:spcAft>
              <a:buSzPts val="1000"/>
              <a:buFont typeface="Symbol" panose="05050102010706020507" pitchFamily="18" charset="2"/>
              <a:buChar char=""/>
              <a:tabLst>
                <a:tab pos="457200" algn="l"/>
              </a:tabLst>
            </a:pPr>
            <a:r>
              <a:rPr lang="en-IN" sz="2400" kern="100" dirty="0">
                <a:effectLst/>
                <a:ea typeface="Aptos" panose="020B0004020202020204" pitchFamily="34" charset="0"/>
                <a:cs typeface="Times New Roman" panose="02020603050405020304" pitchFamily="18" charset="0"/>
              </a:rPr>
              <a:t>Regularization:</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Dropout + recurrent dropout</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L2 regularization</a:t>
            </a:r>
          </a:p>
          <a:p>
            <a:pPr marL="342900" lvl="0" indent="-342900">
              <a:lnSpc>
                <a:spcPct val="115000"/>
              </a:lnSpc>
              <a:spcAft>
                <a:spcPts val="800"/>
              </a:spcAft>
              <a:buSzPts val="1000"/>
              <a:buFont typeface="Symbol" panose="05050102010706020507" pitchFamily="18" charset="2"/>
              <a:buChar char=""/>
              <a:tabLst>
                <a:tab pos="457200" algn="l"/>
              </a:tabLst>
            </a:pPr>
            <a:r>
              <a:rPr lang="en-IN" sz="2400" kern="100" dirty="0">
                <a:effectLst/>
                <a:ea typeface="Aptos" panose="020B0004020202020204" pitchFamily="34" charset="0"/>
                <a:cs typeface="Times New Roman" panose="02020603050405020304" pitchFamily="18" charset="0"/>
              </a:rPr>
              <a:t>Training:</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Epochs: 150</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Batch size: 64</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Early stopping patience: 20</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400" kern="100" dirty="0">
                <a:effectLst/>
                <a:ea typeface="Aptos" panose="020B0004020202020204" pitchFamily="34" charset="0"/>
                <a:cs typeface="Times New Roman" panose="02020603050405020304" pitchFamily="18" charset="0"/>
              </a:rPr>
              <a:t>Learning rate: warm-up + </a:t>
            </a:r>
            <a:r>
              <a:rPr lang="en-IN" sz="2400" kern="100" dirty="0" err="1">
                <a:effectLst/>
                <a:ea typeface="Aptos" panose="020B0004020202020204" pitchFamily="34" charset="0"/>
                <a:cs typeface="Times New Roman" panose="02020603050405020304" pitchFamily="18" charset="0"/>
              </a:rPr>
              <a:t>ReduceLROnPlateau</a:t>
            </a:r>
            <a:r>
              <a:rPr lang="en-IN" sz="2400" kern="100" dirty="0">
                <a:effectLst/>
                <a:ea typeface="Aptos" panose="020B0004020202020204" pitchFamily="34" charset="0"/>
                <a:cs typeface="Times New Roman" panose="02020603050405020304" pitchFamily="18" charset="0"/>
              </a:rPr>
              <a:t> (decay 0.95 every 500 steps)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38D9-27D6-B120-2BFF-4F925D56C01F}"/>
              </a:ext>
            </a:extLst>
          </p:cNvPr>
          <p:cNvSpPr>
            <a:spLocks noGrp="1"/>
          </p:cNvSpPr>
          <p:nvPr>
            <p:ph type="title"/>
          </p:nvPr>
        </p:nvSpPr>
        <p:spPr/>
        <p:txBody>
          <a:bodyPr/>
          <a:lstStyle/>
          <a:p>
            <a:r>
              <a:rPr lang="en-IN" dirty="0"/>
              <a:t>Training Result</a:t>
            </a:r>
          </a:p>
        </p:txBody>
      </p:sp>
      <p:graphicFrame>
        <p:nvGraphicFramePr>
          <p:cNvPr id="6" name="Table 5">
            <a:extLst>
              <a:ext uri="{FF2B5EF4-FFF2-40B4-BE49-F238E27FC236}">
                <a16:creationId xmlns:a16="http://schemas.microsoft.com/office/drawing/2014/main" id="{4749EEB2-03AB-5BF6-72FA-8E62502DEB6F}"/>
              </a:ext>
            </a:extLst>
          </p:cNvPr>
          <p:cNvGraphicFramePr>
            <a:graphicFrameLocks noGrp="1"/>
          </p:cNvGraphicFramePr>
          <p:nvPr>
            <p:extLst>
              <p:ext uri="{D42A27DB-BD31-4B8C-83A1-F6EECF244321}">
                <p14:modId xmlns:p14="http://schemas.microsoft.com/office/powerpoint/2010/main" val="2403382248"/>
              </p:ext>
            </p:extLst>
          </p:nvPr>
        </p:nvGraphicFramePr>
        <p:xfrm>
          <a:off x="1206499" y="4810878"/>
          <a:ext cx="21971001" cy="5478150"/>
        </p:xfrm>
        <a:graphic>
          <a:graphicData uri="http://schemas.openxmlformats.org/drawingml/2006/table">
            <a:tbl>
              <a:tblPr firstRow="1" firstCol="1" bandRow="1">
                <a:tableStyleId>{5940675A-B579-460E-94D1-54222C63F5DA}</a:tableStyleId>
              </a:tblPr>
              <a:tblGrid>
                <a:gridCol w="7323667">
                  <a:extLst>
                    <a:ext uri="{9D8B030D-6E8A-4147-A177-3AD203B41FA5}">
                      <a16:colId xmlns:a16="http://schemas.microsoft.com/office/drawing/2014/main" val="1108933139"/>
                    </a:ext>
                  </a:extLst>
                </a:gridCol>
                <a:gridCol w="7323667">
                  <a:extLst>
                    <a:ext uri="{9D8B030D-6E8A-4147-A177-3AD203B41FA5}">
                      <a16:colId xmlns:a16="http://schemas.microsoft.com/office/drawing/2014/main" val="220245461"/>
                    </a:ext>
                  </a:extLst>
                </a:gridCol>
                <a:gridCol w="7323667">
                  <a:extLst>
                    <a:ext uri="{9D8B030D-6E8A-4147-A177-3AD203B41FA5}">
                      <a16:colId xmlns:a16="http://schemas.microsoft.com/office/drawing/2014/main" val="3205328897"/>
                    </a:ext>
                  </a:extLst>
                </a:gridCol>
              </a:tblGrid>
              <a:tr h="218948">
                <a:tc>
                  <a:txBody>
                    <a:bodyPr/>
                    <a:lstStyle/>
                    <a:p>
                      <a:pPr>
                        <a:lnSpc>
                          <a:spcPct val="115000"/>
                        </a:lnSpc>
                        <a:spcAft>
                          <a:spcPts val="800"/>
                        </a:spcAft>
                        <a:buNone/>
                      </a:pPr>
                      <a:r>
                        <a:rPr lang="en-IN" sz="3200" kern="100">
                          <a:effectLst/>
                        </a:rPr>
                        <a:t>Locality</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dirty="0">
                          <a:effectLst/>
                        </a:rPr>
                        <a:t>MAE</a:t>
                      </a:r>
                      <a:endParaRPr lang="en-IN"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RMSE</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53054331"/>
                  </a:ext>
                </a:extLst>
              </a:tr>
              <a:tr h="218948">
                <a:tc>
                  <a:txBody>
                    <a:bodyPr/>
                    <a:lstStyle/>
                    <a:p>
                      <a:pPr>
                        <a:lnSpc>
                          <a:spcPct val="115000"/>
                        </a:lnSpc>
                        <a:spcAft>
                          <a:spcPts val="800"/>
                        </a:spcAft>
                        <a:buNone/>
                      </a:pPr>
                      <a:r>
                        <a:rPr lang="en-IN" sz="3200" kern="100">
                          <a:effectLst/>
                        </a:rPr>
                        <a:t>Colaba</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1.99</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4.08</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54097689"/>
                  </a:ext>
                </a:extLst>
              </a:tr>
              <a:tr h="218948">
                <a:tc>
                  <a:txBody>
                    <a:bodyPr/>
                    <a:lstStyle/>
                    <a:p>
                      <a:pPr>
                        <a:lnSpc>
                          <a:spcPct val="115000"/>
                        </a:lnSpc>
                        <a:spcAft>
                          <a:spcPts val="800"/>
                        </a:spcAft>
                        <a:buNone/>
                      </a:pPr>
                      <a:r>
                        <a:rPr lang="en-IN" sz="3200" kern="100">
                          <a:effectLst/>
                        </a:rPr>
                        <a:t>Sion</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4.38</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5.61</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54228300"/>
                  </a:ext>
                </a:extLst>
              </a:tr>
              <a:tr h="218948">
                <a:tc>
                  <a:txBody>
                    <a:bodyPr/>
                    <a:lstStyle/>
                    <a:p>
                      <a:pPr>
                        <a:lnSpc>
                          <a:spcPct val="115000"/>
                        </a:lnSpc>
                        <a:spcAft>
                          <a:spcPts val="800"/>
                        </a:spcAft>
                        <a:buNone/>
                      </a:pPr>
                      <a:r>
                        <a:rPr lang="en-IN" sz="3200" kern="100">
                          <a:effectLst/>
                        </a:rPr>
                        <a:t>Powai</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5.88</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8.30</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35792691"/>
                  </a:ext>
                </a:extLst>
              </a:tr>
              <a:tr h="218948">
                <a:tc>
                  <a:txBody>
                    <a:bodyPr/>
                    <a:lstStyle/>
                    <a:p>
                      <a:pPr>
                        <a:lnSpc>
                          <a:spcPct val="115000"/>
                        </a:lnSpc>
                        <a:spcAft>
                          <a:spcPts val="800"/>
                        </a:spcAft>
                        <a:buNone/>
                      </a:pPr>
                      <a:r>
                        <a:rPr lang="en-IN" sz="3200" kern="100" dirty="0">
                          <a:effectLst/>
                        </a:rPr>
                        <a:t>Airport</a:t>
                      </a:r>
                      <a:endParaRPr lang="en-IN"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6.56</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8.50</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32449347"/>
                  </a:ext>
                </a:extLst>
              </a:tr>
              <a:tr h="218948">
                <a:tc>
                  <a:txBody>
                    <a:bodyPr/>
                    <a:lstStyle/>
                    <a:p>
                      <a:pPr>
                        <a:lnSpc>
                          <a:spcPct val="115000"/>
                        </a:lnSpc>
                        <a:spcAft>
                          <a:spcPts val="800"/>
                        </a:spcAft>
                        <a:buNone/>
                      </a:pPr>
                      <a:r>
                        <a:rPr lang="en-IN" sz="3200" kern="100">
                          <a:effectLst/>
                        </a:rPr>
                        <a:t>Borivali</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5.95</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9.14</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2486147"/>
                  </a:ext>
                </a:extLst>
              </a:tr>
              <a:tr h="218948">
                <a:tc>
                  <a:txBody>
                    <a:bodyPr/>
                    <a:lstStyle/>
                    <a:p>
                      <a:pPr>
                        <a:lnSpc>
                          <a:spcPct val="115000"/>
                        </a:lnSpc>
                        <a:spcAft>
                          <a:spcPts val="800"/>
                        </a:spcAft>
                        <a:buNone/>
                      </a:pPr>
                      <a:r>
                        <a:rPr lang="en-IN" sz="3200" kern="100">
                          <a:effectLst/>
                        </a:rPr>
                        <a:t>Worli</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5.73</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8.47</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03405227"/>
                  </a:ext>
                </a:extLst>
              </a:tr>
              <a:tr h="218948">
                <a:tc>
                  <a:txBody>
                    <a:bodyPr/>
                    <a:lstStyle/>
                    <a:p>
                      <a:pPr>
                        <a:lnSpc>
                          <a:spcPct val="115000"/>
                        </a:lnSpc>
                        <a:spcAft>
                          <a:spcPts val="800"/>
                        </a:spcAft>
                        <a:buNone/>
                      </a:pPr>
                      <a:r>
                        <a:rPr lang="en-IN" sz="3200" kern="100">
                          <a:effectLst/>
                        </a:rPr>
                        <a:t>Kurla</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10.40</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23.73</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69509275"/>
                  </a:ext>
                </a:extLst>
              </a:tr>
              <a:tr h="218948">
                <a:tc>
                  <a:txBody>
                    <a:bodyPr/>
                    <a:lstStyle/>
                    <a:p>
                      <a:pPr>
                        <a:lnSpc>
                          <a:spcPct val="115000"/>
                        </a:lnSpc>
                        <a:spcAft>
                          <a:spcPts val="800"/>
                        </a:spcAft>
                        <a:buNone/>
                      </a:pPr>
                      <a:r>
                        <a:rPr lang="en-IN" sz="3200" kern="100">
                          <a:effectLst/>
                        </a:rPr>
                        <a:t>Kalyan</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12.31</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16.93</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83914983"/>
                  </a:ext>
                </a:extLst>
              </a:tr>
              <a:tr h="218948">
                <a:tc>
                  <a:txBody>
                    <a:bodyPr/>
                    <a:lstStyle/>
                    <a:p>
                      <a:pPr>
                        <a:lnSpc>
                          <a:spcPct val="115000"/>
                        </a:lnSpc>
                        <a:spcAft>
                          <a:spcPts val="800"/>
                        </a:spcAft>
                        <a:buNone/>
                      </a:pPr>
                      <a:r>
                        <a:rPr lang="en-IN" sz="3200" kern="100">
                          <a:effectLst/>
                        </a:rPr>
                        <a:t>Bandra</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a:effectLst/>
                        </a:rPr>
                        <a:t>9.47</a:t>
                      </a:r>
                      <a:endParaRPr lang="en-IN"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3200" kern="100" dirty="0">
                          <a:effectLst/>
                        </a:rPr>
                        <a:t>12.76</a:t>
                      </a:r>
                      <a:endParaRPr lang="en-IN"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28483550"/>
                  </a:ext>
                </a:extLst>
              </a:tr>
            </a:tbl>
          </a:graphicData>
        </a:graphic>
      </p:graphicFrame>
    </p:spTree>
    <p:extLst>
      <p:ext uri="{BB962C8B-B14F-4D97-AF65-F5344CB8AC3E}">
        <p14:creationId xmlns:p14="http://schemas.microsoft.com/office/powerpoint/2010/main" val="273371695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Given the data distribution for each region"/>
          <p:cNvSpPr txBox="1">
            <a:spLocks noGrp="1"/>
          </p:cNvSpPr>
          <p:nvPr>
            <p:ph type="title"/>
          </p:nvPr>
        </p:nvSpPr>
        <p:spPr>
          <a:prstGeom prst="rect">
            <a:avLst/>
          </a:prstGeom>
        </p:spPr>
        <p:txBody>
          <a:bodyPr/>
          <a:lstStyle>
            <a:lvl1pPr>
              <a:defRPr spc="-200"/>
            </a:lvl1pPr>
          </a:lstStyle>
          <a:p>
            <a:r>
              <a:t>Given the data distribution for each region</a:t>
            </a:r>
          </a:p>
        </p:txBody>
      </p:sp>
      <p:sp>
        <p:nvSpPr>
          <p:cNvPr id="167" name="Slide Subtitle"/>
          <p:cNvSpPr txBox="1">
            <a:spLocks noGrp="1"/>
          </p:cNvSpPr>
          <p:nvPr>
            <p:ph type="body" sz="quarter" idx="1"/>
          </p:nvPr>
        </p:nvSpPr>
        <p:spPr>
          <a:xfrm>
            <a:off x="1206500" y="2372961"/>
            <a:ext cx="21971000" cy="934780"/>
          </a:xfrm>
          <a:prstGeom prst="rect">
            <a:avLst/>
          </a:prstGeom>
        </p:spPr>
        <p:txBody>
          <a:bodyPr/>
          <a:lstStyle/>
          <a:p>
            <a:endParaRPr/>
          </a:p>
        </p:txBody>
      </p:sp>
      <p:pic>
        <p:nvPicPr>
          <p:cNvPr id="168" name="missing_data_heatmap.png" descr="missing_data_heatmap.png"/>
          <p:cNvPicPr>
            <a:picLocks noChangeAspect="1"/>
          </p:cNvPicPr>
          <p:nvPr/>
        </p:nvPicPr>
        <p:blipFill>
          <a:blip r:embed="rId2"/>
          <a:stretch>
            <a:fillRect/>
          </a:stretch>
        </p:blipFill>
        <p:spPr>
          <a:xfrm>
            <a:off x="1431821" y="2449884"/>
            <a:ext cx="19047641" cy="11141342"/>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rediction per region with xgboost"/>
          <p:cNvSpPr txBox="1">
            <a:spLocks noGrp="1"/>
          </p:cNvSpPr>
          <p:nvPr>
            <p:ph type="title"/>
          </p:nvPr>
        </p:nvSpPr>
        <p:spPr>
          <a:prstGeom prst="rect">
            <a:avLst/>
          </a:prstGeom>
        </p:spPr>
        <p:txBody>
          <a:bodyPr/>
          <a:lstStyle>
            <a:lvl1pPr>
              <a:defRPr spc="-200"/>
            </a:lvl1pPr>
          </a:lstStyle>
          <a:p>
            <a:r>
              <a:t>Prediction per region with LSTM</a:t>
            </a:r>
          </a:p>
        </p:txBody>
      </p:sp>
      <p:sp>
        <p:nvSpPr>
          <p:cNvPr id="171" name="Airport"/>
          <p:cNvSpPr txBox="1">
            <a:spLocks noGrp="1"/>
          </p:cNvSpPr>
          <p:nvPr>
            <p:ph type="body" sz="quarter" idx="1"/>
          </p:nvPr>
        </p:nvSpPr>
        <p:spPr>
          <a:xfrm>
            <a:off x="1206500" y="2372961"/>
            <a:ext cx="21971000" cy="934780"/>
          </a:xfrm>
          <a:prstGeom prst="rect">
            <a:avLst/>
          </a:prstGeom>
        </p:spPr>
        <p:txBody>
          <a:bodyPr/>
          <a:lstStyle/>
          <a:p>
            <a:r>
              <a:t>Airport</a:t>
            </a:r>
          </a:p>
        </p:txBody>
      </p:sp>
      <p:pic>
        <p:nvPicPr>
          <p:cNvPr id="3" name="Picture 2" descr="A graph with a line and a line&#10;&#10;AI-generated content may be incorrect.">
            <a:extLst>
              <a:ext uri="{FF2B5EF4-FFF2-40B4-BE49-F238E27FC236}">
                <a16:creationId xmlns:a16="http://schemas.microsoft.com/office/drawing/2014/main" id="{BF2D451E-A99C-A3F8-0CD5-2A67BC41D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334" y="4248503"/>
            <a:ext cx="10181628" cy="6432467"/>
          </a:xfrm>
          <a:prstGeom prst="rect">
            <a:avLst/>
          </a:prstGeom>
        </p:spPr>
      </p:pic>
      <p:pic>
        <p:nvPicPr>
          <p:cNvPr id="5" name="Picture 4" descr="A graph of a number of bars&#10;&#10;AI-generated content may be incorrect.">
            <a:extLst>
              <a:ext uri="{FF2B5EF4-FFF2-40B4-BE49-F238E27FC236}">
                <a16:creationId xmlns:a16="http://schemas.microsoft.com/office/drawing/2014/main" id="{3041C655-C846-C79A-295D-F8D91F756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2689" y="4114794"/>
            <a:ext cx="12370350" cy="7422210"/>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rediction per region with xgboost"/>
          <p:cNvSpPr txBox="1">
            <a:spLocks noGrp="1"/>
          </p:cNvSpPr>
          <p:nvPr>
            <p:ph type="title"/>
          </p:nvPr>
        </p:nvSpPr>
        <p:spPr>
          <a:prstGeom prst="rect">
            <a:avLst/>
          </a:prstGeom>
        </p:spPr>
        <p:txBody>
          <a:bodyPr/>
          <a:lstStyle>
            <a:lvl1pPr>
              <a:defRPr spc="-200"/>
            </a:lvl1pPr>
          </a:lstStyle>
          <a:p>
            <a:r>
              <a:t>Prediction per region with LSTM</a:t>
            </a:r>
          </a:p>
        </p:txBody>
      </p:sp>
      <p:sp>
        <p:nvSpPr>
          <p:cNvPr id="176" name="Colaba"/>
          <p:cNvSpPr txBox="1">
            <a:spLocks noGrp="1"/>
          </p:cNvSpPr>
          <p:nvPr>
            <p:ph type="body" sz="quarter" idx="1"/>
          </p:nvPr>
        </p:nvSpPr>
        <p:spPr>
          <a:xfrm>
            <a:off x="1206500" y="2372961"/>
            <a:ext cx="21971000" cy="934780"/>
          </a:xfrm>
          <a:prstGeom prst="rect">
            <a:avLst/>
          </a:prstGeom>
        </p:spPr>
        <p:txBody>
          <a:bodyPr/>
          <a:lstStyle/>
          <a:p>
            <a:r>
              <a:t>Colaba</a:t>
            </a:r>
          </a:p>
        </p:txBody>
      </p:sp>
      <p:pic>
        <p:nvPicPr>
          <p:cNvPr id="3" name="Picture 2" descr="A graph of a graph&#10;&#10;AI-generated content may be incorrect.">
            <a:extLst>
              <a:ext uri="{FF2B5EF4-FFF2-40B4-BE49-F238E27FC236}">
                <a16:creationId xmlns:a16="http://schemas.microsoft.com/office/drawing/2014/main" id="{B2C5C371-36E2-5982-B15D-942AE6D9AA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9317" y="3667910"/>
            <a:ext cx="12791881" cy="7675129"/>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rediction per region with xgboost"/>
          <p:cNvSpPr txBox="1">
            <a:spLocks noGrp="1"/>
          </p:cNvSpPr>
          <p:nvPr>
            <p:ph type="title"/>
          </p:nvPr>
        </p:nvSpPr>
        <p:spPr>
          <a:prstGeom prst="rect">
            <a:avLst/>
          </a:prstGeom>
        </p:spPr>
        <p:txBody>
          <a:bodyPr/>
          <a:lstStyle>
            <a:lvl1pPr>
              <a:defRPr spc="-200"/>
            </a:lvl1pPr>
          </a:lstStyle>
          <a:p>
            <a:r>
              <a:t>Prediction per region with LSTM</a:t>
            </a:r>
          </a:p>
        </p:txBody>
      </p:sp>
      <p:sp>
        <p:nvSpPr>
          <p:cNvPr id="181" name="Mulund"/>
          <p:cNvSpPr txBox="1">
            <a:spLocks noGrp="1"/>
          </p:cNvSpPr>
          <p:nvPr>
            <p:ph type="body" sz="quarter" idx="1"/>
          </p:nvPr>
        </p:nvSpPr>
        <p:spPr>
          <a:xfrm>
            <a:off x="1206500" y="2372961"/>
            <a:ext cx="21971000" cy="934780"/>
          </a:xfrm>
          <a:prstGeom prst="rect">
            <a:avLst/>
          </a:prstGeom>
        </p:spPr>
        <p:txBody>
          <a:bodyPr/>
          <a:lstStyle/>
          <a:p>
            <a:r>
              <a:t>Mulund</a:t>
            </a:r>
          </a:p>
        </p:txBody>
      </p:sp>
      <p:pic>
        <p:nvPicPr>
          <p:cNvPr id="3" name="Picture 2" descr="A graph of a normal distribution&#10;&#10;AI-generated content may be incorrect.">
            <a:extLst>
              <a:ext uri="{FF2B5EF4-FFF2-40B4-BE49-F238E27FC236}">
                <a16:creationId xmlns:a16="http://schemas.microsoft.com/office/drawing/2014/main" id="{4F7DCCF2-ABF3-D8D3-0BC2-C65573F721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4917" y="3122573"/>
            <a:ext cx="13959201" cy="8375521"/>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Result"/>
          <p:cNvSpPr txBox="1">
            <a:spLocks noGrp="1"/>
          </p:cNvSpPr>
          <p:nvPr>
            <p:ph type="title"/>
          </p:nvPr>
        </p:nvSpPr>
        <p:spPr>
          <a:prstGeom prst="rect">
            <a:avLst/>
          </a:prstGeom>
        </p:spPr>
        <p:txBody>
          <a:bodyPr/>
          <a:lstStyle>
            <a:lvl1pPr>
              <a:defRPr spc="-200"/>
            </a:lvl1pPr>
          </a:lstStyle>
          <a:p>
            <a:r>
              <a:t>Result</a:t>
            </a:r>
          </a:p>
        </p:txBody>
      </p:sp>
      <p:sp>
        <p:nvSpPr>
          <p:cNvPr id="190" name="Slide Subtitle"/>
          <p:cNvSpPr txBox="1">
            <a:spLocks noGrp="1"/>
          </p:cNvSpPr>
          <p:nvPr>
            <p:ph type="body" sz="quarter" idx="1"/>
          </p:nvPr>
        </p:nvSpPr>
        <p:spPr>
          <a:xfrm>
            <a:off x="1206500" y="2372961"/>
            <a:ext cx="21971000" cy="934780"/>
          </a:xfrm>
          <a:prstGeom prst="rect">
            <a:avLst/>
          </a:prstGeom>
        </p:spPr>
        <p:txBody>
          <a:bodyPr/>
          <a:lstStyle/>
          <a:p>
            <a:endParaRPr/>
          </a:p>
        </p:txBody>
      </p:sp>
      <p:sp>
        <p:nvSpPr>
          <p:cNvPr id="191" name="Because I had to reduce the size for training the average Mae and RMSE were pretty bad with them being 45 and 55 for this algorithm…"/>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GB" dirty="0"/>
              <a:t>Localities with more nearby </a:t>
            </a:r>
            <a:r>
              <a:rPr lang="en-GB" dirty="0" err="1"/>
              <a:t>neighbors</a:t>
            </a:r>
            <a:r>
              <a:rPr lang="en-GB" dirty="0"/>
              <a:t> (like Colaba, Sion, and Powai) achieved the best results</a:t>
            </a:r>
          </a:p>
          <a:p>
            <a:r>
              <a:rPr lang="en-GB" dirty="0"/>
              <a:t>Localities on the periphery (like Kalyan) showed higher error rates but still significant improvement</a:t>
            </a:r>
          </a:p>
          <a:p>
            <a:r>
              <a:rPr lang="en-GB" dirty="0"/>
              <a:t>The final model significantly outperformed the original implementation, with an 88% reduction in MAE.</a:t>
            </a: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19</TotalTime>
  <Words>503</Words>
  <Application>Microsoft Office PowerPoint</Application>
  <PresentationFormat>Custom</PresentationFormat>
  <Paragraphs>89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Courier New</vt:lpstr>
      <vt:lpstr>Helvetica Neue</vt:lpstr>
      <vt:lpstr>Helvetica Neue Medium</vt:lpstr>
      <vt:lpstr>Symbol</vt:lpstr>
      <vt:lpstr>21_BasicWhite</vt:lpstr>
      <vt:lpstr>PM2.5 prediction</vt:lpstr>
      <vt:lpstr>Details</vt:lpstr>
      <vt:lpstr>Previously</vt:lpstr>
      <vt:lpstr>Enhanced Feature Engineering</vt:lpstr>
      <vt:lpstr>Enhanced Feature Engineering (contd.)</vt:lpstr>
      <vt:lpstr>Spatial Data resolution</vt:lpstr>
      <vt:lpstr>Final LSTM Architecture</vt:lpstr>
      <vt:lpstr>Training Result</vt:lpstr>
      <vt:lpstr>Given the data distribution for each region</vt:lpstr>
      <vt:lpstr>Prediction per region with LSTM</vt:lpstr>
      <vt:lpstr>Prediction per region with LSTM</vt:lpstr>
      <vt:lpstr>Prediction per region with LSTM</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Pranav</dc:creator>
  <cp:lastModifiedBy>Pranav Nambiar</cp:lastModifiedBy>
  <cp:revision>4</cp:revision>
  <dcterms:modified xsi:type="dcterms:W3CDTF">2025-03-29T00:37:10Z</dcterms:modified>
</cp:coreProperties>
</file>