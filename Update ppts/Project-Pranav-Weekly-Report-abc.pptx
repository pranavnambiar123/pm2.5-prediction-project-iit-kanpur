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oumo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Bowl with salmon cakes, salad and houmo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PranavNambiar123/PM2.5-Prediction-Project-IIT-Kanpur"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 Id="rId3"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PM2.5 prediction"/>
          <p:cNvSpPr txBox="1"/>
          <p:nvPr>
            <p:ph type="ctrTitle"/>
          </p:nvPr>
        </p:nvSpPr>
        <p:spPr>
          <a:prstGeom prst="rect">
            <a:avLst/>
          </a:prstGeom>
        </p:spPr>
        <p:txBody>
          <a:bodyPr/>
          <a:lstStyle>
            <a:lvl1pPr algn="ctr" defTabSz="914400">
              <a:lnSpc>
                <a:spcPct val="90000"/>
              </a:lnSpc>
              <a:defRPr b="0" spc="0" sz="6000">
                <a:latin typeface="Aptos Display"/>
                <a:ea typeface="Aptos Display"/>
                <a:cs typeface="Aptos Display"/>
                <a:sym typeface="Aptos Display"/>
              </a:defRPr>
            </a:lvl1pPr>
          </a:lstStyle>
          <a:p>
            <a:pPr/>
            <a:r>
              <a:t>PM2.5 prediction</a:t>
            </a:r>
          </a:p>
        </p:txBody>
      </p:sp>
      <p:sp>
        <p:nvSpPr>
          <p:cNvPr id="152" name="- Pranav Nambiar"/>
          <p:cNvSpPr txBox="1"/>
          <p:nvPr>
            <p:ph type="subTitle" sz="quarter" idx="1"/>
          </p:nvPr>
        </p:nvSpPr>
        <p:spPr>
          <a:prstGeom prst="rect">
            <a:avLst/>
          </a:prstGeom>
        </p:spPr>
        <p:txBody>
          <a:bodyPr/>
          <a:lstStyle>
            <a:lvl1pPr algn="ctr" defTabSz="914400">
              <a:lnSpc>
                <a:spcPct val="90000"/>
              </a:lnSpc>
              <a:spcBef>
                <a:spcPts val="1000"/>
              </a:spcBef>
              <a:defRPr b="0" sz="2400">
                <a:latin typeface="Aptos"/>
                <a:ea typeface="Aptos"/>
                <a:cs typeface="Aptos"/>
                <a:sym typeface="Aptos"/>
              </a:defRPr>
            </a:lvl1pPr>
          </a:lstStyle>
          <a:p>
            <a:pPr/>
            <a:r>
              <a:t>- Pranav Nambiar</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Details"/>
          <p:cNvSpPr txBox="1"/>
          <p:nvPr>
            <p:ph type="title"/>
          </p:nvPr>
        </p:nvSpPr>
        <p:spPr>
          <a:prstGeom prst="rect">
            <a:avLst/>
          </a:prstGeom>
        </p:spPr>
        <p:txBody>
          <a:bodyPr/>
          <a:lstStyle>
            <a:lvl1pPr defTabSz="914400">
              <a:lnSpc>
                <a:spcPct val="90000"/>
              </a:lnSpc>
              <a:defRPr b="0" spc="0" sz="4400">
                <a:latin typeface="Aptos Display"/>
                <a:ea typeface="Aptos Display"/>
                <a:cs typeface="Aptos Display"/>
                <a:sym typeface="Aptos Display"/>
              </a:defRPr>
            </a:lvl1pPr>
          </a:lstStyle>
          <a:p>
            <a:pPr/>
            <a:r>
              <a:t>Details</a:t>
            </a:r>
          </a:p>
        </p:txBody>
      </p:sp>
      <p:sp>
        <p:nvSpPr>
          <p:cNvPr id="155" name="Github: https://github.com/PranavNambiar123/PM2.5-Prediction-Project-IIT-Kanpur…"/>
          <p:cNvSpPr txBox="1"/>
          <p:nvPr>
            <p:ph type="body" idx="1"/>
          </p:nvPr>
        </p:nvSpPr>
        <p:spPr>
          <a:prstGeom prst="rect">
            <a:avLst/>
          </a:prstGeom>
        </p:spPr>
        <p:txBody>
          <a:bodyPr/>
          <a:lstStyle/>
          <a:p>
            <a:pPr marL="228600" indent="-228600" defTabSz="914400">
              <a:spcBef>
                <a:spcPts val="1000"/>
              </a:spcBef>
              <a:buSzPct val="100000"/>
              <a:buFont typeface="Arial"/>
              <a:defRPr sz="2800">
                <a:latin typeface="Aptos"/>
                <a:ea typeface="Aptos"/>
                <a:cs typeface="Aptos"/>
                <a:sym typeface="Aptos"/>
              </a:defRPr>
            </a:pPr>
            <a:r>
              <a:rPr u="sng">
                <a:solidFill>
                  <a:srgbClr val="467886"/>
                </a:solidFill>
                <a:uFill>
                  <a:solidFill>
                    <a:srgbClr val="467886"/>
                  </a:solidFill>
                </a:uFill>
                <a:hlinkClick r:id="rId2" invalidUrl="" action="" tgtFrame="" tooltip="" history="1" highlightClick="0" endSnd="0"/>
              </a:rPr>
              <a:t>Github</a:t>
            </a:r>
            <a:r>
              <a:rPr u="sng">
                <a:solidFill>
                  <a:srgbClr val="467886"/>
                </a:solidFill>
                <a:uFill>
                  <a:solidFill>
                    <a:srgbClr val="467886"/>
                  </a:solidFill>
                </a:uFill>
                <a:hlinkClick r:id="rId2" invalidUrl="" action="" tgtFrame="" tooltip="" history="1" highlightClick="0" endSnd="0"/>
              </a:rPr>
              <a:t>: https://github.com/PranavNambiar123/PM2.5-Prediction-Project-IIT-Kanpur</a:t>
            </a:r>
          </a:p>
          <a:p>
            <a:pPr marL="228600" indent="-228600" defTabSz="914400">
              <a:spcBef>
                <a:spcPts val="1000"/>
              </a:spcBef>
              <a:buSzPct val="100000"/>
              <a:buFont typeface="Arial"/>
              <a:defRPr sz="2800">
                <a:latin typeface="Aptos"/>
                <a:ea typeface="Aptos"/>
                <a:cs typeface="Aptos"/>
                <a:sym typeface="Aptos"/>
              </a:defRPr>
            </a:pPr>
            <a:r>
              <a:t>Roll number: 233562458</a:t>
            </a:r>
          </a:p>
          <a:p>
            <a:pPr marL="228600" indent="-228600" defTabSz="914400">
              <a:spcBef>
                <a:spcPts val="1000"/>
              </a:spcBef>
              <a:buSzPct val="100000"/>
              <a:buFont typeface="Arial"/>
              <a:defRPr sz="2800">
                <a:latin typeface="Aptos"/>
                <a:ea typeface="Aptos"/>
                <a:cs typeface="Aptos"/>
                <a:sym typeface="Aptos"/>
              </a:defRPr>
            </a:pPr>
            <a:r>
              <a:t>IITK email: nambiarpv23@iitk.ac.in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Previously"/>
          <p:cNvSpPr txBox="1"/>
          <p:nvPr>
            <p:ph type="title"/>
          </p:nvPr>
        </p:nvSpPr>
        <p:spPr>
          <a:prstGeom prst="rect">
            <a:avLst/>
          </a:prstGeom>
        </p:spPr>
        <p:txBody>
          <a:bodyPr/>
          <a:lstStyle/>
          <a:p>
            <a:pPr/>
            <a:r>
              <a:t>Previously</a:t>
            </a:r>
          </a:p>
        </p:txBody>
      </p:sp>
      <p:sp>
        <p:nvSpPr>
          <p:cNvPr id="158" name="Slide Subtitle"/>
          <p:cNvSpPr txBox="1"/>
          <p:nvPr>
            <p:ph type="body" idx="21"/>
          </p:nvPr>
        </p:nvSpPr>
        <p:spPr>
          <a:prstGeom prst="rect">
            <a:avLst/>
          </a:prstGeom>
        </p:spPr>
        <p:txBody>
          <a:bodyPr/>
          <a:lstStyle/>
          <a:p>
            <a:pPr/>
          </a:p>
        </p:txBody>
      </p:sp>
      <p:sp>
        <p:nvSpPr>
          <p:cNvPr id="159" name="We cleaned data using different cleaning methods: linear interpolation, spatial average or mean, median methods…"/>
          <p:cNvSpPr txBox="1"/>
          <p:nvPr>
            <p:ph type="body" idx="1"/>
          </p:nvPr>
        </p:nvSpPr>
        <p:spPr>
          <a:prstGeom prst="rect">
            <a:avLst/>
          </a:prstGeom>
        </p:spPr>
        <p:txBody>
          <a:bodyPr/>
          <a:lstStyle/>
          <a:p>
            <a:pPr/>
            <a:r>
              <a:t>We cleaned data using different cleaning methods: linear interpolation, spatial average or mean, median methods</a:t>
            </a:r>
          </a:p>
          <a:p>
            <a:pPr/>
            <a:r>
              <a:t>Passed this cleaned data through a linear regression</a:t>
            </a:r>
          </a:p>
          <a:p>
            <a:pPr/>
            <a:r>
              <a:t>This presentation we go through gradient boosting and checking how it works and how it compares against linear regression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Overall Flow"/>
          <p:cNvSpPr txBox="1"/>
          <p:nvPr>
            <p:ph type="title"/>
          </p:nvPr>
        </p:nvSpPr>
        <p:spPr>
          <a:prstGeom prst="rect">
            <a:avLst/>
          </a:prstGeom>
        </p:spPr>
        <p:txBody>
          <a:bodyPr/>
          <a:lstStyle/>
          <a:p>
            <a:pPr/>
            <a:r>
              <a:t>Overall Flow</a:t>
            </a:r>
          </a:p>
        </p:txBody>
      </p:sp>
      <p:sp>
        <p:nvSpPr>
          <p:cNvPr id="162" name="Slide Subtitle"/>
          <p:cNvSpPr txBox="1"/>
          <p:nvPr>
            <p:ph type="body" idx="21"/>
          </p:nvPr>
        </p:nvSpPr>
        <p:spPr>
          <a:prstGeom prst="rect">
            <a:avLst/>
          </a:prstGeom>
        </p:spPr>
        <p:txBody>
          <a:bodyPr/>
          <a:lstStyle/>
          <a:p>
            <a:pPr/>
          </a:p>
        </p:txBody>
      </p:sp>
      <p:sp>
        <p:nvSpPr>
          <p:cNvPr id="163" name="Slide bullet text"/>
          <p:cNvSpPr txBox="1"/>
          <p:nvPr>
            <p:ph type="body" idx="1"/>
          </p:nvPr>
        </p:nvSpPr>
        <p:spPr>
          <a:prstGeom prst="rect">
            <a:avLst/>
          </a:prstGeom>
        </p:spPr>
        <p:txBody>
          <a:bodyPr/>
          <a:lstStyle/>
          <a:p>
            <a:pPr/>
          </a:p>
        </p:txBody>
      </p:sp>
      <p:pic>
        <p:nvPicPr>
          <p:cNvPr id="164" name="mermaid-diagram-2025-03-09-055121.png" descr="mermaid-diagram-2025-03-09-055121.png"/>
          <p:cNvPicPr>
            <a:picLocks noChangeAspect="1"/>
          </p:cNvPicPr>
          <p:nvPr/>
        </p:nvPicPr>
        <p:blipFill>
          <a:blip r:embed="rId2">
            <a:extLst/>
          </a:blip>
          <a:stretch>
            <a:fillRect/>
          </a:stretch>
        </p:blipFill>
        <p:spPr>
          <a:xfrm>
            <a:off x="8419924" y="-1"/>
            <a:ext cx="10679907" cy="1371600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Gradient Boosting"/>
          <p:cNvSpPr txBox="1"/>
          <p:nvPr>
            <p:ph type="title"/>
          </p:nvPr>
        </p:nvSpPr>
        <p:spPr>
          <a:prstGeom prst="rect">
            <a:avLst/>
          </a:prstGeom>
        </p:spPr>
        <p:txBody>
          <a:bodyPr/>
          <a:lstStyle/>
          <a:p>
            <a:pPr/>
            <a:r>
              <a:t>Gradient Boosting</a:t>
            </a:r>
          </a:p>
        </p:txBody>
      </p:sp>
      <p:sp>
        <p:nvSpPr>
          <p:cNvPr id="167" name="Slide Subtitle"/>
          <p:cNvSpPr txBox="1"/>
          <p:nvPr>
            <p:ph type="body" idx="21"/>
          </p:nvPr>
        </p:nvSpPr>
        <p:spPr>
          <a:prstGeom prst="rect">
            <a:avLst/>
          </a:prstGeom>
        </p:spPr>
        <p:txBody>
          <a:bodyPr/>
          <a:lstStyle/>
          <a:p>
            <a:pPr/>
          </a:p>
        </p:txBody>
      </p:sp>
      <p:sp>
        <p:nvSpPr>
          <p:cNvPr id="168" name="XGBoost is a good algorithm for PM2.5 prediction generally…"/>
          <p:cNvSpPr txBox="1"/>
          <p:nvPr>
            <p:ph type="body" idx="1"/>
          </p:nvPr>
        </p:nvSpPr>
        <p:spPr>
          <a:prstGeom prst="rect">
            <a:avLst/>
          </a:prstGeom>
        </p:spPr>
        <p:txBody>
          <a:bodyPr/>
          <a:lstStyle/>
          <a:p>
            <a:pPr/>
            <a:r>
              <a:t>XGBoost is a good algorithm for PM2.5 prediction generally</a:t>
            </a:r>
          </a:p>
          <a:p>
            <a:pPr/>
            <a:r>
              <a:t>As we have interactions between different factors</a:t>
            </a:r>
          </a:p>
          <a:p>
            <a:pPr/>
            <a:r>
              <a:t>Also xgboost internally handles null or Nan data points</a:t>
            </a:r>
          </a:p>
          <a:p>
            <a:pPr/>
            <a:r>
              <a:t>Also includes L1 and L2 regularisation</a:t>
            </a:r>
          </a:p>
          <a:p>
            <a:pPr/>
            <a:r>
              <a:t>The downside is that it is very memory intensive, as it creates an ensemble of decision trees the memory requires to store the model increases linearly with the number of trees.</a:t>
            </a:r>
          </a:p>
          <a:p>
            <a:pPr lvl="1"/>
            <a:r>
              <a:t>We used number of trees = 200 and max depth = 8 for our training</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Issue faced and optimisations"/>
          <p:cNvSpPr txBox="1"/>
          <p:nvPr>
            <p:ph type="title"/>
          </p:nvPr>
        </p:nvSpPr>
        <p:spPr>
          <a:prstGeom prst="rect">
            <a:avLst/>
          </a:prstGeom>
        </p:spPr>
        <p:txBody>
          <a:bodyPr/>
          <a:lstStyle/>
          <a:p>
            <a:pPr/>
            <a:r>
              <a:t>Issue faced and optimisations</a:t>
            </a:r>
          </a:p>
        </p:txBody>
      </p:sp>
      <p:sp>
        <p:nvSpPr>
          <p:cNvPr id="171" name="Slide Subtitle"/>
          <p:cNvSpPr txBox="1"/>
          <p:nvPr>
            <p:ph type="body" idx="21"/>
          </p:nvPr>
        </p:nvSpPr>
        <p:spPr>
          <a:prstGeom prst="rect">
            <a:avLst/>
          </a:prstGeom>
        </p:spPr>
        <p:txBody>
          <a:bodyPr/>
          <a:lstStyle/>
          <a:p>
            <a:pPr/>
          </a:p>
        </p:txBody>
      </p:sp>
      <p:sp>
        <p:nvSpPr>
          <p:cNvPr id="172" name="Faced a lot of issues with size and memory used for training as the system was not able to handle the full load during training  Here are the key optimizations we made to improve memory usage and prevent overheating:…"/>
          <p:cNvSpPr txBox="1"/>
          <p:nvPr>
            <p:ph type="body" idx="1"/>
          </p:nvPr>
        </p:nvSpPr>
        <p:spPr>
          <a:prstGeom prst="rect">
            <a:avLst/>
          </a:prstGeom>
        </p:spPr>
        <p:txBody>
          <a:bodyPr/>
          <a:lstStyle/>
          <a:p>
            <a:pPr marL="243840" indent="-243840" defTabSz="975335">
              <a:spcBef>
                <a:spcPts val="1800"/>
              </a:spcBef>
              <a:defRPr sz="1920"/>
            </a:pPr>
            <a:r>
              <a:t>Faced a lot of issues with size and memory used for training as the system was not able to handle the full load during training</a:t>
            </a:r>
            <a:br/>
            <a:br/>
            <a:r>
              <a:t>Here are the key optimizations we made to improve memory usage and prevent overheating:</a:t>
            </a:r>
          </a:p>
          <a:p>
            <a:pPr marL="243840" indent="-243840" defTabSz="975335">
              <a:spcBef>
                <a:spcPts val="1800"/>
              </a:spcBef>
              <a:defRPr sz="1920"/>
            </a:pPr>
          </a:p>
          <a:p>
            <a:pPr marL="243840" indent="-243840" defTabSz="975335">
              <a:spcBef>
                <a:spcPts val="1800"/>
              </a:spcBef>
              <a:defRPr sz="1920"/>
            </a:pPr>
            <a:r>
              <a:t>Data Loading &amp; Processing:</a:t>
            </a:r>
          </a:p>
          <a:p>
            <a:pPr marL="243840" indent="-243840" defTabSz="975335">
              <a:spcBef>
                <a:spcPts val="1800"/>
              </a:spcBef>
              <a:defRPr sz="1920"/>
            </a:pPr>
            <a:r>
              <a:t>Chunked CSV reading (1000 rows per chunk)</a:t>
            </a:r>
          </a:p>
          <a:p>
            <a:pPr marL="243840" indent="-243840" defTabSz="975335">
              <a:spcBef>
                <a:spcPts val="1800"/>
              </a:spcBef>
              <a:defRPr sz="1920"/>
            </a:pPr>
            <a:r>
              <a:t>Minimal feature set (only hour_sin and rolling_mean_6h)</a:t>
            </a:r>
          </a:p>
          <a:p>
            <a:pPr marL="243840" indent="-243840" defTabSz="975335">
              <a:spcBef>
                <a:spcPts val="1800"/>
              </a:spcBef>
              <a:defRPr sz="1920"/>
            </a:pPr>
            <a:r>
              <a:t>Aggressive memory cleanup between operations</a:t>
            </a:r>
          </a:p>
          <a:p>
            <a:pPr marL="243840" indent="-243840" defTabSz="975335">
              <a:spcBef>
                <a:spcPts val="1800"/>
              </a:spcBef>
              <a:defRPr sz="1920"/>
            </a:pPr>
            <a:r>
              <a:t>Training Architecture:</a:t>
            </a:r>
          </a:p>
          <a:p>
            <a:pPr marL="243840" indent="-243840" defTabSz="975335">
              <a:spcBef>
                <a:spcPts val="1800"/>
              </a:spcBef>
              <a:defRPr sz="1920"/>
            </a:pPr>
            <a:r>
              <a:t>Split data into 4 chunks for incremental training</a:t>
            </a:r>
          </a:p>
          <a:p>
            <a:pPr marL="243840" indent="-243840" defTabSz="975335">
              <a:spcBef>
                <a:spcPts val="1800"/>
              </a:spcBef>
              <a:defRPr sz="1920"/>
            </a:pPr>
            <a:r>
              <a:t>Sequential horizon processing instead of parallel</a:t>
            </a:r>
          </a:p>
          <a:p>
            <a:pPr marL="243840" indent="-243840" defTabSz="975335">
              <a:spcBef>
                <a:spcPts val="1800"/>
              </a:spcBef>
              <a:defRPr sz="1920"/>
            </a:pPr>
            <a:r>
              <a:t>Reduced batch size to 64</a:t>
            </a:r>
          </a:p>
          <a:p>
            <a:pPr marL="243840" indent="-243840" defTabSz="975335">
              <a:spcBef>
                <a:spcPts val="1800"/>
              </a:spcBef>
              <a:defRPr sz="1920"/>
            </a:pPr>
            <a:r>
              <a:t>Progressive model updates instead of full retraining</a:t>
            </a:r>
          </a:p>
          <a:p>
            <a:pPr marL="243840" indent="-243840" defTabSz="975335">
              <a:spcBef>
                <a:spcPts val="1800"/>
              </a:spcBef>
              <a:defRPr sz="1920"/>
            </a:pPr>
            <a:r>
              <a:t>Resource Management:</a:t>
            </a:r>
          </a:p>
          <a:p>
            <a:pPr marL="243840" indent="-243840" defTabSz="975335">
              <a:spcBef>
                <a:spcPts val="1800"/>
              </a:spcBef>
              <a:defRPr sz="1920"/>
            </a:pPr>
            <a:r>
              <a:t>Testing with single locality first</a:t>
            </a:r>
          </a:p>
          <a:p>
            <a:pPr marL="243840" indent="-243840" defTabSz="975335">
              <a:spcBef>
                <a:spcPts val="1800"/>
              </a:spcBef>
              <a:defRPr sz="1920"/>
            </a:pPr>
            <a:r>
              <a:t>Added cooldown periods (10s between chunks)</a:t>
            </a:r>
          </a:p>
          <a:p>
            <a:pPr marL="243840" indent="-243840" defTabSz="975335">
              <a:spcBef>
                <a:spcPts val="1800"/>
              </a:spcBef>
              <a:defRPr sz="1920"/>
            </a:pPr>
            <a:r>
              <a:t>Memory cleanup after each horizon</a:t>
            </a:r>
          </a:p>
          <a:p>
            <a:pPr marL="243840" indent="-243840" defTabSz="975335">
              <a:spcBef>
                <a:spcPts val="1800"/>
              </a:spcBef>
              <a:defRPr sz="1920"/>
            </a:pPr>
            <a:r>
              <a:t>Longer pauses (60s) when resources are high</a:t>
            </a:r>
          </a:p>
          <a:p>
            <a:pPr marL="243840" indent="-243840" defTabSz="975335">
              <a:spcBef>
                <a:spcPts val="1800"/>
              </a:spcBef>
              <a:defRPr sz="1920"/>
            </a:pPr>
            <a:r>
              <a:t>Feature Reduction:</a:t>
            </a:r>
          </a:p>
          <a:p>
            <a:pPr marL="243840" indent="-243840" defTabSz="975335">
              <a:spcBef>
                <a:spcPts val="1800"/>
              </a:spcBef>
              <a:defRPr sz="1920"/>
            </a:pPr>
            <a:r>
              <a:t>Removed less important features</a:t>
            </a:r>
          </a:p>
          <a:p>
            <a:pPr marL="243840" indent="-243840" defTabSz="975335">
              <a:spcBef>
                <a:spcPts val="1800"/>
              </a:spcBef>
              <a:defRPr sz="1920"/>
            </a:pPr>
            <a:r>
              <a:t>Simplified time features</a:t>
            </a:r>
          </a:p>
          <a:p>
            <a:pPr marL="243840" indent="-243840" defTabSz="975335">
              <a:spcBef>
                <a:spcPts val="1800"/>
              </a:spcBef>
              <a:defRPr sz="1920"/>
            </a:pPr>
            <a:r>
              <a:t>Using only basic rolling statistics</a:t>
            </a:r>
          </a:p>
          <a:p>
            <a:pPr marL="243840" indent="-243840" defTabSz="975335">
              <a:spcBef>
                <a:spcPts val="1800"/>
              </a:spcBef>
              <a:defRPr sz="1920"/>
            </a:pPr>
            <a:r>
              <a:t>Efficient numpy operations for sequences</a:t>
            </a:r>
          </a:p>
          <a:p>
            <a:pPr marL="243840" indent="-243840" defTabSz="975335">
              <a:spcBef>
                <a:spcPts val="1800"/>
              </a:spcBef>
              <a:defRPr sz="1920"/>
            </a:pPr>
            <a:r>
              <a:t>These changes significantly reduced memory usage while maintaining model functionality, though we're still seeing some resource constraints. The key tradeoff was reducing data resolution and feature complexity to improve processing efficiency.</a:t>
            </a:r>
          </a:p>
          <a:p>
            <a:pPr marL="243840" indent="-243840" defTabSz="975335">
              <a:spcBef>
                <a:spcPts val="1800"/>
              </a:spcBef>
              <a:defRPr sz="1920"/>
            </a:pPr>
          </a:p>
          <a:p>
            <a:pPr marL="243840" indent="-243840" defTabSz="975335">
              <a:spcBef>
                <a:spcPts val="1800"/>
              </a:spcBef>
              <a:defRPr sz="1920"/>
            </a:pPr>
            <a:r>
              <a:t>DoneFeedback has been submitted</a:t>
            </a:r>
          </a:p>
          <a:p>
            <a:pPr marL="243840" indent="-243840" defTabSz="975335">
              <a:spcBef>
                <a:spcPts val="1800"/>
              </a:spcBef>
              <a:defRPr sz="1920"/>
            </a:pPr>
            <a:r>
              <a:t>Start with History ⌘⏎</a:t>
            </a:r>
          </a:p>
          <a:p>
            <a:pPr marL="243840" indent="-243840" defTabSz="975335">
              <a:spcBef>
                <a:spcPts val="1800"/>
              </a:spcBef>
              <a:defRPr sz="1920"/>
            </a:pPr>
            <a:r>
              <a:t>Press Enter again to interrupt and send a new message</a:t>
            </a:r>
          </a:p>
          <a:p>
            <a:pPr marL="243840" indent="-243840" defTabSz="975335">
              <a:spcBef>
                <a:spcPts val="1800"/>
              </a:spcBef>
              <a:defRPr sz="1920"/>
            </a:pPr>
            <a:r>
              <a:t>Start with History ⌘⏎</a:t>
            </a:r>
          </a:p>
          <a:p>
            <a:pPr marL="243840" indent="-243840" defTabSz="975335">
              <a:spcBef>
                <a:spcPts val="1800"/>
              </a:spcBef>
              <a:defRPr sz="1920"/>
            </a:pPr>
          </a:p>
          <a:p>
            <a:pPr marL="243840" indent="-243840" defTabSz="975335">
              <a:spcBef>
                <a:spcPts val="1800"/>
              </a:spcBef>
              <a:defRPr sz="1920"/>
            </a:pPr>
          </a:p>
          <a:p>
            <a:pPr marL="243840" indent="-243840" defTabSz="975335">
              <a:spcBef>
                <a:spcPts val="1800"/>
              </a:spcBef>
              <a:defRPr sz="1920"/>
            </a:pPr>
          </a:p>
          <a:p>
            <a:pPr marL="243840" indent="-243840" defTabSz="975335">
              <a:spcBef>
                <a:spcPts val="1800"/>
              </a:spcBef>
              <a:defRPr sz="1920"/>
            </a:pPr>
            <a:r>
              <a:t>Write</a:t>
            </a:r>
          </a:p>
          <a:p>
            <a:pPr marL="243840" indent="-243840" defTabSz="975335">
              <a:spcBef>
                <a:spcPts val="1800"/>
              </a:spcBef>
              <a:defRPr sz="1920"/>
            </a:pPr>
            <a:r>
              <a:t>Chat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Given the data distribution for each region"/>
          <p:cNvSpPr txBox="1"/>
          <p:nvPr>
            <p:ph type="title"/>
          </p:nvPr>
        </p:nvSpPr>
        <p:spPr>
          <a:prstGeom prst="rect">
            <a:avLst/>
          </a:prstGeom>
        </p:spPr>
        <p:txBody>
          <a:bodyPr/>
          <a:lstStyle/>
          <a:p>
            <a:pPr/>
            <a:r>
              <a:t>Given the data distribution for each region</a:t>
            </a:r>
          </a:p>
        </p:txBody>
      </p:sp>
      <p:sp>
        <p:nvSpPr>
          <p:cNvPr id="175" name="Slide Subtitle"/>
          <p:cNvSpPr txBox="1"/>
          <p:nvPr>
            <p:ph type="body" idx="21"/>
          </p:nvPr>
        </p:nvSpPr>
        <p:spPr>
          <a:prstGeom prst="rect">
            <a:avLst/>
          </a:prstGeom>
        </p:spPr>
        <p:txBody>
          <a:bodyPr/>
          <a:lstStyle/>
          <a:p>
            <a:pPr/>
          </a:p>
        </p:txBody>
      </p:sp>
      <p:pic>
        <p:nvPicPr>
          <p:cNvPr id="176" name="missing_data_heatmap.png" descr="missing_data_heatmap.png"/>
          <p:cNvPicPr>
            <a:picLocks noChangeAspect="1"/>
          </p:cNvPicPr>
          <p:nvPr/>
        </p:nvPicPr>
        <p:blipFill>
          <a:blip r:embed="rId2">
            <a:extLst/>
          </a:blip>
          <a:stretch>
            <a:fillRect/>
          </a:stretch>
        </p:blipFill>
        <p:spPr>
          <a:xfrm>
            <a:off x="1431821" y="2449885"/>
            <a:ext cx="19047640" cy="1114134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Prediction per region with xgboost"/>
          <p:cNvSpPr txBox="1"/>
          <p:nvPr>
            <p:ph type="title"/>
          </p:nvPr>
        </p:nvSpPr>
        <p:spPr>
          <a:prstGeom prst="rect">
            <a:avLst/>
          </a:prstGeom>
        </p:spPr>
        <p:txBody>
          <a:bodyPr/>
          <a:lstStyle/>
          <a:p>
            <a:pPr/>
            <a:r>
              <a:t>Prediction per region with xgboost</a:t>
            </a:r>
          </a:p>
        </p:txBody>
      </p:sp>
      <p:sp>
        <p:nvSpPr>
          <p:cNvPr id="179" name="Airpor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Airport</a:t>
            </a:r>
          </a:p>
        </p:txBody>
      </p:sp>
      <p:sp>
        <p:nvSpPr>
          <p:cNvPr id="180" name="Slide bullet text"/>
          <p:cNvSpPr txBox="1"/>
          <p:nvPr>
            <p:ph type="body" idx="1"/>
          </p:nvPr>
        </p:nvSpPr>
        <p:spPr>
          <a:prstGeom prst="rect">
            <a:avLst/>
          </a:prstGeom>
        </p:spPr>
        <p:txBody>
          <a:bodyPr/>
          <a:lstStyle/>
          <a:p>
            <a:pPr/>
          </a:p>
        </p:txBody>
      </p:sp>
      <p:pic>
        <p:nvPicPr>
          <p:cNvPr id="181" name="xgboost_prediction_Airport.png" descr="xgboost_prediction_Airport.png"/>
          <p:cNvPicPr>
            <a:picLocks noChangeAspect="1"/>
          </p:cNvPicPr>
          <p:nvPr/>
        </p:nvPicPr>
        <p:blipFill>
          <a:blip r:embed="rId2">
            <a:extLst/>
          </a:blip>
          <a:stretch>
            <a:fillRect/>
          </a:stretch>
        </p:blipFill>
        <p:spPr>
          <a:xfrm>
            <a:off x="954046" y="3937036"/>
            <a:ext cx="9928224" cy="6896993"/>
          </a:xfrm>
          <a:prstGeom prst="rect">
            <a:avLst/>
          </a:prstGeom>
          <a:ln w="12700">
            <a:miter lim="400000"/>
          </a:ln>
        </p:spPr>
      </p:pic>
      <p:pic>
        <p:nvPicPr>
          <p:cNvPr id="182" name="xgboost_error_distribution_Airport.png" descr="xgboost_error_distribution_Airport.png"/>
          <p:cNvPicPr>
            <a:picLocks noChangeAspect="1"/>
          </p:cNvPicPr>
          <p:nvPr/>
        </p:nvPicPr>
        <p:blipFill>
          <a:blip r:embed="rId3">
            <a:extLst/>
          </a:blip>
          <a:stretch>
            <a:fillRect/>
          </a:stretch>
        </p:blipFill>
        <p:spPr>
          <a:xfrm>
            <a:off x="11567967" y="3727179"/>
            <a:ext cx="11982752" cy="769112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Prediction per region with xgboost"/>
          <p:cNvSpPr txBox="1"/>
          <p:nvPr>
            <p:ph type="title"/>
          </p:nvPr>
        </p:nvSpPr>
        <p:spPr>
          <a:prstGeom prst="rect">
            <a:avLst/>
          </a:prstGeom>
        </p:spPr>
        <p:txBody>
          <a:bodyPr/>
          <a:lstStyle/>
          <a:p>
            <a:pPr/>
            <a:r>
              <a:t>Prediction per region with xgboost</a:t>
            </a:r>
          </a:p>
        </p:txBody>
      </p:sp>
      <p:sp>
        <p:nvSpPr>
          <p:cNvPr id="185" name="Colaba"/>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Colaba</a:t>
            </a:r>
          </a:p>
        </p:txBody>
      </p:sp>
      <p:pic>
        <p:nvPicPr>
          <p:cNvPr id="186" name="lstm_prediction_Colaba.png" descr="lstm_prediction_Colaba.png"/>
          <p:cNvPicPr>
            <a:picLocks noChangeAspect="1"/>
          </p:cNvPicPr>
          <p:nvPr/>
        </p:nvPicPr>
        <p:blipFill>
          <a:blip r:embed="rId2">
            <a:extLst/>
          </a:blip>
          <a:stretch>
            <a:fillRect/>
          </a:stretch>
        </p:blipFill>
        <p:spPr>
          <a:xfrm>
            <a:off x="673141" y="4583426"/>
            <a:ext cx="10067101" cy="6993469"/>
          </a:xfrm>
          <a:prstGeom prst="rect">
            <a:avLst/>
          </a:prstGeom>
          <a:ln w="12700">
            <a:miter lim="400000"/>
          </a:ln>
        </p:spPr>
      </p:pic>
      <p:pic>
        <p:nvPicPr>
          <p:cNvPr id="187" name="lstm_error_distribution_Colaba.png" descr="lstm_error_distribution_Colaba.png"/>
          <p:cNvPicPr>
            <a:picLocks noChangeAspect="1"/>
          </p:cNvPicPr>
          <p:nvPr/>
        </p:nvPicPr>
        <p:blipFill>
          <a:blip r:embed="rId3">
            <a:extLst/>
          </a:blip>
          <a:srcRect l="0" t="3996" r="3834" b="0"/>
          <a:stretch>
            <a:fillRect/>
          </a:stretch>
        </p:blipFill>
        <p:spPr>
          <a:xfrm>
            <a:off x="11219163" y="4373052"/>
            <a:ext cx="12325706" cy="7897865"/>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Prediction per region with xgboost"/>
          <p:cNvSpPr txBox="1"/>
          <p:nvPr>
            <p:ph type="title"/>
          </p:nvPr>
        </p:nvSpPr>
        <p:spPr>
          <a:prstGeom prst="rect">
            <a:avLst/>
          </a:prstGeom>
        </p:spPr>
        <p:txBody>
          <a:bodyPr/>
          <a:lstStyle/>
          <a:p>
            <a:pPr/>
            <a:r>
              <a:t>Prediction per region with xgboost</a:t>
            </a:r>
          </a:p>
        </p:txBody>
      </p:sp>
      <p:sp>
        <p:nvSpPr>
          <p:cNvPr id="190" name="Mulun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Mulund</a:t>
            </a:r>
          </a:p>
        </p:txBody>
      </p:sp>
      <p:pic>
        <p:nvPicPr>
          <p:cNvPr id="191" name="lstm_prediction_Mulund.png" descr="lstm_prediction_Mulund.png"/>
          <p:cNvPicPr>
            <a:picLocks noChangeAspect="1"/>
          </p:cNvPicPr>
          <p:nvPr/>
        </p:nvPicPr>
        <p:blipFill>
          <a:blip r:embed="rId2">
            <a:extLst/>
          </a:blip>
          <a:stretch>
            <a:fillRect/>
          </a:stretch>
        </p:blipFill>
        <p:spPr>
          <a:xfrm>
            <a:off x="600588" y="4673688"/>
            <a:ext cx="9923289" cy="6893565"/>
          </a:xfrm>
          <a:prstGeom prst="rect">
            <a:avLst/>
          </a:prstGeom>
          <a:ln w="12700">
            <a:miter lim="400000"/>
          </a:ln>
        </p:spPr>
      </p:pic>
      <p:pic>
        <p:nvPicPr>
          <p:cNvPr id="192" name="lstm_error_distribution_Mulund.png" descr="lstm_error_distribution_Mulund.png"/>
          <p:cNvPicPr>
            <a:picLocks noChangeAspect="1"/>
          </p:cNvPicPr>
          <p:nvPr/>
        </p:nvPicPr>
        <p:blipFill>
          <a:blip r:embed="rId3">
            <a:extLst/>
          </a:blip>
          <a:stretch>
            <a:fillRect/>
          </a:stretch>
        </p:blipFill>
        <p:spPr>
          <a:xfrm>
            <a:off x="11921970" y="4594309"/>
            <a:ext cx="10987503" cy="7052323"/>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Result"/>
          <p:cNvSpPr txBox="1"/>
          <p:nvPr>
            <p:ph type="title"/>
          </p:nvPr>
        </p:nvSpPr>
        <p:spPr>
          <a:prstGeom prst="rect">
            <a:avLst/>
          </a:prstGeom>
        </p:spPr>
        <p:txBody>
          <a:bodyPr/>
          <a:lstStyle/>
          <a:p>
            <a:pPr/>
            <a:r>
              <a:t>Result</a:t>
            </a:r>
          </a:p>
        </p:txBody>
      </p:sp>
      <p:sp>
        <p:nvSpPr>
          <p:cNvPr id="195" name="Slide Subtitle"/>
          <p:cNvSpPr txBox="1"/>
          <p:nvPr>
            <p:ph type="body" idx="21"/>
          </p:nvPr>
        </p:nvSpPr>
        <p:spPr>
          <a:prstGeom prst="rect">
            <a:avLst/>
          </a:prstGeom>
        </p:spPr>
        <p:txBody>
          <a:bodyPr/>
          <a:lstStyle/>
          <a:p>
            <a:pPr/>
          </a:p>
        </p:txBody>
      </p:sp>
      <p:sp>
        <p:nvSpPr>
          <p:cNvPr id="196" name="Because I had to reduce the size for training the average Mae and RMSE were pretty bad with them being 45 and 55 for this algorithm…"/>
          <p:cNvSpPr txBox="1"/>
          <p:nvPr>
            <p:ph type="body" idx="1"/>
          </p:nvPr>
        </p:nvSpPr>
        <p:spPr>
          <a:prstGeom prst="rect">
            <a:avLst/>
          </a:prstGeom>
        </p:spPr>
        <p:txBody>
          <a:bodyPr/>
          <a:lstStyle/>
          <a:p>
            <a:pPr/>
            <a:r>
              <a:t>Because I had to reduce the size for training the average Mae and RMSE were pretty bad with them being 45 and 55 for this algorithm</a:t>
            </a:r>
          </a:p>
          <a:p>
            <a:pPr/>
            <a:r>
              <a:t>Also as seen the predictions get random while predicting further away in the future</a:t>
            </a:r>
          </a:p>
          <a:p>
            <a:pPr/>
            <a:r>
              <a:t>As it is very difficult to scale up using this algorithm due to resource issues, deciding to change the algorithm to LSTM going forward as it is not so resource intensive and is traditionally suited for time sequences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