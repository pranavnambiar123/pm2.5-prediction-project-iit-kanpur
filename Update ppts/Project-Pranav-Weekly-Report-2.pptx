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1pPr>
    <a:lvl2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2pPr>
    <a:lvl3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3pPr>
    <a:lvl4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4pPr>
    <a:lvl5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5pPr>
    <a:lvl6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6pPr>
    <a:lvl7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7pPr>
    <a:lvl8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8pPr>
    <a:lvl9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b="def" i="def"/>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b="def" i="def"/>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b="def" i="def"/>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b="def" i="def"/>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b="def" i="def"/>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p:spTree>
      <p:nvGrpSpPr>
        <p:cNvPr id="1" name=""/>
        <p:cNvGrpSpPr/>
        <p:nvPr/>
      </p:nvGrpSpPr>
      <p:grpSpPr>
        <a:xfrm>
          <a:off x="0" y="0"/>
          <a:ext cx="0" cy="0"/>
          <a:chOff x="0" y="0"/>
          <a:chExt cx="0" cy="0"/>
        </a:xfrm>
      </p:grpSpPr>
      <p:sp>
        <p:nvSpPr>
          <p:cNvPr id="11" name="Body Level One…"/>
          <p:cNvSpPr txBox="1"/>
          <p:nvPr>
            <p:ph type="body" sz="quarter" idx="1" hasCustomPrompt="1"/>
          </p:nvPr>
        </p:nvSpPr>
        <p:spPr>
          <a:xfrm>
            <a:off x="1201340" y="11859862"/>
            <a:ext cx="21971005" cy="636981"/>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12" name="Presentation Title"/>
          <p:cNvSpPr txBox="1"/>
          <p:nvPr>
            <p:ph type="title" hasCustomPrompt="1"/>
          </p:nvPr>
        </p:nvSpPr>
        <p:spPr>
          <a:xfrm>
            <a:off x="1206496" y="2574991"/>
            <a:ext cx="21971005" cy="4648203"/>
          </a:xfrm>
          <a:prstGeom prst="rect">
            <a:avLst/>
          </a:prstGeom>
        </p:spPr>
        <p:txBody>
          <a:bodyPr anchor="b"/>
          <a:lstStyle>
            <a:lvl1pPr>
              <a:defRPr spc="-232" sz="11600"/>
            </a:lvl1pPr>
          </a:lstStyle>
          <a:p>
            <a:pPr/>
            <a:r>
              <a:t>Presentation Title</a:t>
            </a:r>
          </a:p>
        </p:txBody>
      </p:sp>
      <p:sp>
        <p:nvSpPr>
          <p:cNvPr id="13" name="Body Level One…"/>
          <p:cNvSpPr txBox="1"/>
          <p:nvPr>
            <p:ph type="body" sz="quarter" idx="21" hasCustomPrompt="1"/>
          </p:nvPr>
        </p:nvSpPr>
        <p:spPr>
          <a:xfrm>
            <a:off x="1201342" y="7223190"/>
            <a:ext cx="21971002" cy="1905003"/>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numCol="1" spcCol="38100">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Body Level One…"/>
          <p:cNvSpPr txBox="1"/>
          <p:nvPr>
            <p:ph type="body" sz="quarter" idx="1" hasCustomPrompt="1"/>
          </p:nvPr>
        </p:nvSpPr>
        <p:spPr>
          <a:xfrm>
            <a:off x="1207690" y="1106137"/>
            <a:ext cx="21968621" cy="636981"/>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Author and Date</a:t>
            </a:r>
          </a:p>
          <a:p>
            <a:pPr lvl="1"/>
            <a:r>
              <a:t/>
            </a:r>
          </a:p>
          <a:p>
            <a:pPr lvl="2"/>
            <a:r>
              <a:t/>
            </a:r>
          </a:p>
          <a:p>
            <a:pPr lvl="3"/>
            <a:r>
              <a:t/>
            </a:r>
          </a:p>
          <a:p>
            <a:pPr lvl="4"/>
            <a:r>
              <a:t/>
            </a:r>
          </a:p>
        </p:txBody>
      </p:sp>
      <p:sp>
        <p:nvSpPr>
          <p:cNvPr id="24" name="Body Level One…"/>
          <p:cNvSpPr txBox="1"/>
          <p:nvPr>
            <p:ph type="body" sz="quarter" idx="22" hasCustomPrompt="1"/>
          </p:nvPr>
        </p:nvSpPr>
        <p:spPr>
          <a:xfrm>
            <a:off x="1206500" y="11609909"/>
            <a:ext cx="21971000" cy="1116954"/>
          </a:xfrm>
          <a:prstGeom prst="rect">
            <a:avLst/>
          </a:prstGeom>
        </p:spPr>
        <p:txBody>
          <a:bodyPr numCol="1" spcCol="38100"/>
          <a:lstStyle>
            <a:lvl1pPr marL="0" indent="0" defTabSz="825500">
              <a:lnSpc>
                <a:spcPct val="100000"/>
              </a:lnSpc>
              <a:spcBef>
                <a:spcPts val="0"/>
              </a:spcBef>
              <a:buSzTx/>
              <a:buNone/>
              <a:defRPr b="1" sz="5500"/>
            </a:lvl1pPr>
          </a:lstStyle>
          <a:p>
            <a:pPr/>
            <a:r>
              <a:t>Presentation Subtitle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oumous"/>
          <p:cNvSpPr/>
          <p:nvPr>
            <p:ph type="pic" idx="21"/>
          </p:nvPr>
        </p:nvSpPr>
        <p:spPr>
          <a:xfrm>
            <a:off x="10972800" y="-203200"/>
            <a:ext cx="12144837" cy="14135100"/>
          </a:xfrm>
          <a:prstGeom prst="rect">
            <a:avLst/>
          </a:prstGeom>
        </p:spPr>
        <p:txBody>
          <a:bodyPr lIns="91439" tIns="45719" rIns="91439" bIns="45719" numCol="1" spcCol="38100">
            <a:noAutofit/>
          </a:bodyPr>
          <a:lstStyle/>
          <a:p>
            <a:pPr/>
          </a:p>
        </p:txBody>
      </p:sp>
      <p:sp>
        <p:nvSpPr>
          <p:cNvPr id="33" name="Slide Title"/>
          <p:cNvSpPr txBox="1"/>
          <p:nvPr>
            <p:ph type="title" hasCustomPrompt="1"/>
          </p:nvPr>
        </p:nvSpPr>
        <p:spPr>
          <a:xfrm>
            <a:off x="1206500" y="1270000"/>
            <a:ext cx="9779000" cy="5882274"/>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numCol="1" spcCol="38100"/>
          <a:lstStyle>
            <a:lvl1pPr marL="0" indent="0" defTabSz="825500">
              <a:lnSpc>
                <a:spcPct val="100000"/>
              </a:lnSpc>
              <a:spcBef>
                <a:spcPts val="0"/>
              </a:spcBef>
              <a:buSzTx/>
              <a:buNone/>
              <a:defRPr b="1" sz="5500"/>
            </a:lvl1pPr>
            <a:lvl2pPr marL="0" indent="0" defTabSz="825500">
              <a:lnSpc>
                <a:spcPct val="100000"/>
              </a:lnSpc>
              <a:spcBef>
                <a:spcPts val="0"/>
              </a:spcBef>
              <a:buSzTx/>
              <a:buNone/>
              <a:defRPr b="1" sz="5500"/>
            </a:lvl2pPr>
            <a:lvl3pPr marL="0" indent="0" defTabSz="825500">
              <a:lnSpc>
                <a:spcPct val="100000"/>
              </a:lnSpc>
              <a:spcBef>
                <a:spcPts val="0"/>
              </a:spcBef>
              <a:buSzTx/>
              <a:buNone/>
              <a:defRPr b="1" sz="5500"/>
            </a:lvl3pPr>
            <a:lvl4pPr marL="0" indent="0" defTabSz="825500">
              <a:lnSpc>
                <a:spcPct val="100000"/>
              </a:lnSpc>
              <a:spcBef>
                <a:spcPts val="0"/>
              </a:spcBef>
              <a:buSzTx/>
              <a:buNone/>
              <a:defRPr b="1" sz="5500"/>
            </a:lvl4pPr>
            <a:lvl5pPr marL="0" indent="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xfrm>
            <a:off x="1206500" y="1079500"/>
            <a:ext cx="21971000" cy="1433164"/>
          </a:xfrm>
          <a:prstGeom prst="rect">
            <a:avLst/>
          </a:prstGeom>
        </p:spPr>
        <p:txBody>
          <a:bodyPr/>
          <a:lstStyle/>
          <a:p>
            <a:pPr/>
            <a:r>
              <a:t>Slide Title</a:t>
            </a:r>
          </a:p>
        </p:txBody>
      </p:sp>
      <p:sp>
        <p:nvSpPr>
          <p:cNvPr id="43" name="Body Level One…"/>
          <p:cNvSpPr txBox="1"/>
          <p:nvPr>
            <p:ph type="body" sz="quarter" idx="1" hasCustomPrompt="1"/>
          </p:nvPr>
        </p:nvSpPr>
        <p:spPr>
          <a:xfrm>
            <a:off x="1206500" y="2372960"/>
            <a:ext cx="21971000" cy="934782"/>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44" name="Body Level One…"/>
          <p:cNvSpPr txBox="1"/>
          <p:nvPr>
            <p:ph type="body" idx="21" hasCustomPrompt="1"/>
          </p:nvPr>
        </p:nvSpPr>
        <p:spPr>
          <a:prstGeom prst="rect">
            <a:avLst/>
          </a:prstGeom>
        </p:spPr>
        <p:txBody>
          <a:bodyPr numCol="1" spcCol="38100"/>
          <a:lstStyle/>
          <a:p>
            <a:pPr/>
            <a:r>
              <a:t>Slide bullet text</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Body Level One…"/>
          <p:cNvSpPr txBox="1"/>
          <p:nvPr>
            <p:ph type="body" sz="quarter" idx="1" hasCustomPrompt="1"/>
          </p:nvPr>
        </p:nvSpPr>
        <p:spPr>
          <a:xfrm>
            <a:off x="1206500" y="2372960"/>
            <a:ext cx="9779000" cy="934782"/>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61" name="Body Level One…"/>
          <p:cNvSpPr txBox="1"/>
          <p:nvPr>
            <p:ph type="body" sz="half" idx="21" hasCustomPrompt="1"/>
          </p:nvPr>
        </p:nvSpPr>
        <p:spPr>
          <a:xfrm>
            <a:off x="1206500" y="4248503"/>
            <a:ext cx="9779000" cy="8256631"/>
          </a:xfrm>
          <a:prstGeom prst="rect">
            <a:avLst/>
          </a:prstGeom>
        </p:spPr>
        <p:txBody>
          <a:bodyPr numCol="1" spcCol="38100"/>
          <a:lstStyle/>
          <a:p>
            <a:pPr/>
            <a:r>
              <a:t>Slide bullet text</a:t>
            </a:r>
          </a:p>
        </p:txBody>
      </p:sp>
      <p:sp>
        <p:nvSpPr>
          <p:cNvPr id="62" name="Bowl of pappardelle pasta with parsley butter, roasted hazelnuts and shaved parmesan cheese"/>
          <p:cNvSpPr/>
          <p:nvPr>
            <p:ph type="pic" idx="22"/>
          </p:nvPr>
        </p:nvSpPr>
        <p:spPr>
          <a:xfrm>
            <a:off x="12192000" y="-407266"/>
            <a:ext cx="10916874" cy="14555833"/>
          </a:xfrm>
          <a:prstGeom prst="rect">
            <a:avLst/>
          </a:prstGeom>
        </p:spPr>
        <p:txBody>
          <a:bodyPr lIns="91439" tIns="45719" rIns="91439" bIns="45719" numCol="1" spcCol="38100">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5"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51"/>
          </a:xfrm>
          <a:prstGeom prst="rect">
            <a:avLst/>
          </a:prstGeom>
        </p:spPr>
        <p:txBody>
          <a:bodyPr/>
          <a:lstStyle/>
          <a:p>
            <a:pPr/>
            <a:r>
              <a:t>Slide Title</a:t>
            </a:r>
          </a:p>
        </p:txBody>
      </p:sp>
      <p:sp>
        <p:nvSpPr>
          <p:cNvPr id="80" name="Body Level One…"/>
          <p:cNvSpPr txBox="1"/>
          <p:nvPr>
            <p:ph type="body" sz="quarter" idx="1" hasCustomPrompt="1"/>
          </p:nvPr>
        </p:nvSpPr>
        <p:spPr>
          <a:xfrm>
            <a:off x="1206500" y="2372960"/>
            <a:ext cx="21971000" cy="934782"/>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Slide Subtitle</a:t>
            </a:r>
          </a:p>
          <a:p>
            <a:pPr lvl="1"/>
            <a:r>
              <a:t/>
            </a:r>
          </a:p>
          <a:p>
            <a:pPr lvl="2"/>
            <a:r>
              <a:t/>
            </a:r>
          </a:p>
          <a:p>
            <a:pPr lvl="3"/>
            <a:r>
              <a:t/>
            </a:r>
          </a:p>
          <a:p>
            <a:pPr lvl="4"/>
            <a:r>
              <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Body Level One…"/>
          <p:cNvSpPr txBox="1"/>
          <p:nvPr>
            <p:ph type="body" sz="quarter" idx="1" hasCustomPrompt="1"/>
          </p:nvPr>
        </p:nvSpPr>
        <p:spPr>
          <a:xfrm>
            <a:off x="1206500" y="2372960"/>
            <a:ext cx="21971000" cy="934782"/>
          </a:xfrm>
          <a:prstGeom prst="rect">
            <a:avLst/>
          </a:prstGeom>
        </p:spPr>
        <p:txBody>
          <a:bodyPr lIns="45718" tIns="45718" rIns="45718" bIns="45718" numCol="1" spcCol="38100"/>
          <a:lstStyle>
            <a:lvl1pPr marL="0" indent="0" defTabSz="825500">
              <a:lnSpc>
                <a:spcPct val="100000"/>
              </a:lnSpc>
              <a:spcBef>
                <a:spcPts val="0"/>
              </a:spcBef>
              <a:buSzTx/>
              <a:buNone/>
              <a:defRPr b="1" sz="5500"/>
            </a:lvl1pPr>
            <a:lvl2pPr marL="1308100" indent="-698500" defTabSz="825500">
              <a:lnSpc>
                <a:spcPct val="100000"/>
              </a:lnSpc>
              <a:spcBef>
                <a:spcPts val="0"/>
              </a:spcBef>
              <a:defRPr b="1" sz="5500"/>
            </a:lvl2pPr>
            <a:lvl3pPr marL="1917700" indent="-698500" defTabSz="825500">
              <a:lnSpc>
                <a:spcPct val="100000"/>
              </a:lnSpc>
              <a:spcBef>
                <a:spcPts val="0"/>
              </a:spcBef>
              <a:defRPr b="1" sz="5500"/>
            </a:lvl3pPr>
            <a:lvl4pPr marL="2527300" indent="-698500" defTabSz="825500">
              <a:lnSpc>
                <a:spcPct val="100000"/>
              </a:lnSpc>
              <a:spcBef>
                <a:spcPts val="0"/>
              </a:spcBef>
              <a:defRPr b="1" sz="5500"/>
            </a:lvl4pPr>
            <a:lvl5pPr marL="3136900" indent="-698500" defTabSz="825500">
              <a:lnSpc>
                <a:spcPct val="100000"/>
              </a:lnSpc>
              <a:spcBef>
                <a:spcPts val="0"/>
              </a:spcBef>
              <a:defRPr b="1" sz="5500"/>
            </a:lvl5pPr>
          </a:lstStyle>
          <a:p>
            <a:pPr/>
            <a:r>
              <a:t>Agenda Subtitle</a:t>
            </a:r>
          </a:p>
          <a:p>
            <a:pPr lvl="1"/>
            <a:r>
              <a:t/>
            </a:r>
          </a:p>
          <a:p>
            <a:pPr lvl="2"/>
            <a:r>
              <a:t/>
            </a:r>
          </a:p>
          <a:p>
            <a:pPr lvl="3"/>
            <a:r>
              <a:t/>
            </a:r>
          </a:p>
          <a:p>
            <a:pPr lvl="4"/>
            <a:r>
              <a:t/>
            </a:r>
          </a:p>
        </p:txBody>
      </p:sp>
      <p:sp>
        <p:nvSpPr>
          <p:cNvPr id="90" name="Body Level One…"/>
          <p:cNvSpPr txBox="1"/>
          <p:nvPr>
            <p:ph type="body" idx="21" hasCustomPrompt="1"/>
          </p:nvPr>
        </p:nvSpPr>
        <p:spPr>
          <a:prstGeom prst="rect">
            <a:avLst/>
          </a:prstGeom>
        </p:spPr>
        <p:txBody>
          <a:bodyPr numCol="1" spcCol="38100"/>
          <a:lstStyle>
            <a:lvl1pPr marL="0" indent="0" defTabSz="825500">
              <a:lnSpc>
                <a:spcPct val="100000"/>
              </a:lnSpc>
              <a:spcBef>
                <a:spcPts val="1800"/>
              </a:spcBef>
              <a:buSzTx/>
              <a:buNone/>
              <a:defRPr spc="-99" sz="5500"/>
            </a:lvl1pPr>
          </a:lstStyle>
          <a:p>
            <a:pPr/>
            <a:r>
              <a:t>Agenda Topics</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numCol="1" spcCol="38100"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5"/>
            <a:ext cx="21971000" cy="7241587"/>
          </a:xfrm>
          <a:prstGeom prst="rect">
            <a:avLst/>
          </a:prstGeom>
        </p:spPr>
        <p:txBody>
          <a:bodyPr numCol="1" spcCol="38100" anchor="b"/>
          <a:lstStyle>
            <a:lvl1pPr marL="0" indent="0" algn="ctr">
              <a:lnSpc>
                <a:spcPct val="80000"/>
              </a:lnSpc>
              <a:spcBef>
                <a:spcPts val="0"/>
              </a:spcBef>
              <a:buSzTx/>
              <a:buNone/>
              <a:defRPr b="1" spc="-250" sz="25000"/>
            </a:lvl1pPr>
            <a:lvl2pPr marL="0" indent="0" algn="ctr">
              <a:lnSpc>
                <a:spcPct val="80000"/>
              </a:lnSpc>
              <a:spcBef>
                <a:spcPts val="0"/>
              </a:spcBef>
              <a:buSzTx/>
              <a:buNone/>
              <a:defRPr b="1" spc="-250" sz="25000"/>
            </a:lvl2pPr>
            <a:lvl3pPr marL="0" indent="0" algn="ctr">
              <a:lnSpc>
                <a:spcPct val="80000"/>
              </a:lnSpc>
              <a:spcBef>
                <a:spcPts val="0"/>
              </a:spcBef>
              <a:buSzTx/>
              <a:buNone/>
              <a:defRPr b="1" spc="-250" sz="25000"/>
            </a:lvl3pPr>
            <a:lvl4pPr marL="0" indent="0" algn="ctr">
              <a:lnSpc>
                <a:spcPct val="80000"/>
              </a:lnSpc>
              <a:spcBef>
                <a:spcPts val="0"/>
              </a:spcBef>
              <a:buSzTx/>
              <a:buNone/>
              <a:defRPr b="1" spc="-250" sz="25000"/>
            </a:lvl4pPr>
            <a:lvl5pPr marL="0" indent="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8" tIns="45718" rIns="45718" bIns="45718" numCol="1" spcCol="38100"/>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Body Level One…"/>
          <p:cNvSpPr txBox="1"/>
          <p:nvPr>
            <p:ph type="body" sz="quarter" idx="1" hasCustomPrompt="1"/>
          </p:nvPr>
        </p:nvSpPr>
        <p:spPr>
          <a:xfrm>
            <a:off x="2430023" y="10675453"/>
            <a:ext cx="20200055" cy="636981"/>
          </a:xfrm>
          <a:prstGeom prst="rect">
            <a:avLst/>
          </a:prstGeom>
        </p:spPr>
        <p:txBody>
          <a:bodyPr lIns="45718" tIns="45718" rIns="45718" bIns="45718" numCol="1" spcCol="38100"/>
          <a:lstStyle>
            <a:lvl1pPr marL="0" indent="0" defTabSz="825500">
              <a:lnSpc>
                <a:spcPct val="100000"/>
              </a:lnSpc>
              <a:spcBef>
                <a:spcPts val="0"/>
              </a:spcBef>
              <a:buSzTx/>
              <a:buNone/>
              <a:defRPr b="1" sz="3600"/>
            </a:lvl1pPr>
            <a:lvl2pPr marL="1066800" indent="-457200" defTabSz="825500">
              <a:lnSpc>
                <a:spcPct val="100000"/>
              </a:lnSpc>
              <a:spcBef>
                <a:spcPts val="0"/>
              </a:spcBef>
              <a:defRPr b="1" sz="3600"/>
            </a:lvl2pPr>
            <a:lvl3pPr marL="1676400" indent="-457200" defTabSz="825500">
              <a:lnSpc>
                <a:spcPct val="100000"/>
              </a:lnSpc>
              <a:spcBef>
                <a:spcPts val="0"/>
              </a:spcBef>
              <a:defRPr b="1" sz="3600"/>
            </a:lvl3pPr>
            <a:lvl4pPr marL="2286000" indent="-457200" defTabSz="825500">
              <a:lnSpc>
                <a:spcPct val="100000"/>
              </a:lnSpc>
              <a:spcBef>
                <a:spcPts val="0"/>
              </a:spcBef>
              <a:defRPr b="1" sz="3600"/>
            </a:lvl4pPr>
            <a:lvl5pPr marL="2895600" indent="-457200" defTabSz="825500">
              <a:lnSpc>
                <a:spcPct val="100000"/>
              </a:lnSpc>
              <a:spcBef>
                <a:spcPts val="0"/>
              </a:spcBef>
              <a:defRPr b="1" sz="3600"/>
            </a:lvl5pPr>
          </a:lstStyle>
          <a:p>
            <a:pPr/>
            <a:r>
              <a:t>Attribution</a:t>
            </a:r>
          </a:p>
          <a:p>
            <a:pPr lvl="1"/>
            <a:r>
              <a:t/>
            </a:r>
          </a:p>
          <a:p>
            <a:pPr lvl="2"/>
            <a:r>
              <a:t/>
            </a:r>
          </a:p>
          <a:p>
            <a:pPr lvl="3"/>
            <a:r>
              <a:t/>
            </a:r>
          </a:p>
          <a:p>
            <a:pPr lvl="4"/>
            <a:r>
              <a:t/>
            </a:r>
          </a:p>
        </p:txBody>
      </p:sp>
      <p:sp>
        <p:nvSpPr>
          <p:cNvPr id="116" name="Body Level One…"/>
          <p:cNvSpPr txBox="1"/>
          <p:nvPr>
            <p:ph type="body" sz="half" idx="21" hasCustomPrompt="1"/>
          </p:nvPr>
        </p:nvSpPr>
        <p:spPr>
          <a:xfrm>
            <a:off x="1753923" y="4939860"/>
            <a:ext cx="20876154" cy="3836282"/>
          </a:xfrm>
          <a:prstGeom prst="rect">
            <a:avLst/>
          </a:prstGeom>
        </p:spPr>
        <p:txBody>
          <a:bodyPr numCol="1" spcCol="38100"/>
          <a:lstStyle>
            <a:lvl1pPr marL="300875" indent="-131851">
              <a:spcBef>
                <a:spcPts val="0"/>
              </a:spcBef>
              <a:buSzTx/>
              <a:buNone/>
              <a:defRPr spc="-200" sz="8500">
                <a:latin typeface="Helvetica Neue Medium"/>
                <a:ea typeface="Helvetica Neue Medium"/>
                <a:cs typeface="Helvetica Neue Medium"/>
                <a:sym typeface="Helvetica Neue Medium"/>
              </a:defRPr>
            </a:lvl1pPr>
          </a:lstStyle>
          <a:p>
            <a:pPr/>
            <a:r>
              <a:t>“Notable Quote”</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numCol="1" spcCol="38100">
            <a:noAutofit/>
          </a:bodyPr>
          <a:lstStyle/>
          <a:p>
            <a:pPr/>
          </a:p>
        </p:txBody>
      </p:sp>
      <p:sp>
        <p:nvSpPr>
          <p:cNvPr id="125" name="Bowl with salmon cakes, salad and houmous "/>
          <p:cNvSpPr/>
          <p:nvPr>
            <p:ph type="pic" sz="half" idx="22"/>
          </p:nvPr>
        </p:nvSpPr>
        <p:spPr>
          <a:xfrm>
            <a:off x="13500100" y="3978275"/>
            <a:ext cx="10439400" cy="12150181"/>
          </a:xfrm>
          <a:prstGeom prst="rect">
            <a:avLst/>
          </a:prstGeom>
        </p:spPr>
        <p:txBody>
          <a:bodyPr lIns="91439" tIns="45719" rIns="91439" bIns="45719" numCol="1" spcCol="38100">
            <a:noAutofit/>
          </a:bodyPr>
          <a:lstStyle/>
          <a:p>
            <a:pPr/>
          </a:p>
        </p:txBody>
      </p:sp>
      <p:sp>
        <p:nvSpPr>
          <p:cNvPr id="12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numCol="1" spcCol="38100">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bowl of salad with fried rice, boiled eggs and chopsticks"/>
          <p:cNvSpPr/>
          <p:nvPr>
            <p:ph type="pic" idx="21"/>
          </p:nvPr>
        </p:nvSpPr>
        <p:spPr>
          <a:xfrm>
            <a:off x="-1333500" y="-5524500"/>
            <a:ext cx="27051000" cy="21640800"/>
          </a:xfrm>
          <a:prstGeom prst="rect">
            <a:avLst/>
          </a:prstGeom>
        </p:spPr>
        <p:txBody>
          <a:bodyPr lIns="91439" tIns="45719" rIns="91439" bIns="45719" numCol="1" spcCol="38100">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ody Level One…"/>
          <p:cNvSpPr txBox="1"/>
          <p:nvPr>
            <p:ph type="body" idx="1" hasCustomPrompt="1"/>
          </p:nvPr>
        </p:nvSpPr>
        <p:spPr>
          <a:xfrm>
            <a:off x="1206500" y="4248503"/>
            <a:ext cx="21971000" cy="825601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numCol="2" spcCol="1098550">
            <a:normAutofit fontScale="100000" lnSpcReduction="0"/>
          </a:bodyPr>
          <a:lstStyle/>
          <a:p>
            <a:pPr/>
            <a:r>
              <a:t>Slide bullet text</a:t>
            </a:r>
          </a:p>
          <a:p>
            <a:pPr lvl="1"/>
            <a:r>
              <a:t/>
            </a:r>
          </a:p>
          <a:p>
            <a:pPr lvl="2"/>
            <a:r>
              <a:t/>
            </a:r>
          </a:p>
          <a:p>
            <a:pPr lvl="3"/>
            <a:r>
              <a:t/>
            </a:r>
          </a:p>
          <a:p>
            <a:pPr lvl="4"/>
            <a:r>
              <a:t/>
            </a:r>
          </a:p>
        </p:txBody>
      </p:sp>
      <p:sp>
        <p:nvSpPr>
          <p:cNvPr id="3" name="Title Text"/>
          <p:cNvSpPr txBox="1"/>
          <p:nvPr>
            <p:ph type="title"/>
          </p:nvPr>
        </p:nvSpPr>
        <p:spPr>
          <a:xfrm>
            <a:off x="3653366" y="2743200"/>
            <a:ext cx="19507201" cy="1505304"/>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Title Text</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latin typeface="+mn-lt"/>
                <a:ea typeface="+mn-ea"/>
                <a:cs typeface="+mn-cs"/>
                <a:sym typeface="Helvetica Neue"/>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0" algn="l" defTabSz="2438337"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7"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PranavNambiar123/PM2.5-Prediction-Project-IIT-Kanpur" TargetMode="Externa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PM2.5 prediction"/>
          <p:cNvSpPr txBox="1"/>
          <p:nvPr>
            <p:ph type="title"/>
          </p:nvPr>
        </p:nvSpPr>
        <p:spPr>
          <a:xfrm>
            <a:off x="1206494" y="2574991"/>
            <a:ext cx="21971008" cy="4648203"/>
          </a:xfrm>
          <a:prstGeom prst="rect">
            <a:avLst/>
          </a:prstGeom>
        </p:spPr>
        <p:txBody>
          <a:bodyPr/>
          <a:lstStyle>
            <a:lvl1pPr algn="ctr" defTabSz="914400">
              <a:lnSpc>
                <a:spcPct val="90000"/>
              </a:lnSpc>
              <a:defRPr b="0" spc="0" sz="6000">
                <a:latin typeface="Aptos Display"/>
                <a:ea typeface="Aptos Display"/>
                <a:cs typeface="Aptos Display"/>
                <a:sym typeface="Aptos Display"/>
              </a:defRPr>
            </a:lvl1pPr>
          </a:lstStyle>
          <a:p>
            <a:pPr/>
            <a:r>
              <a:t>PM2.5 prediction</a:t>
            </a:r>
          </a:p>
        </p:txBody>
      </p:sp>
      <p:sp>
        <p:nvSpPr>
          <p:cNvPr id="152" name="- Pranav Nambiar"/>
          <p:cNvSpPr txBox="1"/>
          <p:nvPr>
            <p:ph type="body" sz="quarter" idx="1"/>
          </p:nvPr>
        </p:nvSpPr>
        <p:spPr>
          <a:xfrm>
            <a:off x="1201342" y="7223190"/>
            <a:ext cx="21971002" cy="1905003"/>
          </a:xfrm>
          <a:prstGeom prst="rect">
            <a:avLst/>
          </a:prstGeom>
        </p:spPr>
        <p:txBody>
          <a:bodyPr lIns="50800" tIns="50800" rIns="50800" bIns="50800"/>
          <a:lstStyle>
            <a:lvl1pPr algn="ctr" defTabSz="914400">
              <a:lnSpc>
                <a:spcPct val="90000"/>
              </a:lnSpc>
              <a:spcBef>
                <a:spcPts val="1000"/>
              </a:spcBef>
              <a:defRPr b="0" sz="2400">
                <a:latin typeface="Aptos"/>
                <a:ea typeface="Aptos"/>
                <a:cs typeface="Aptos"/>
                <a:sym typeface="Aptos"/>
              </a:defRPr>
            </a:lvl1pPr>
          </a:lstStyle>
          <a:p>
            <a:pPr/>
            <a:r>
              <a:t>- Pranav Nambiar</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Details"/>
          <p:cNvSpPr txBox="1"/>
          <p:nvPr>
            <p:ph type="title"/>
          </p:nvPr>
        </p:nvSpPr>
        <p:spPr>
          <a:prstGeom prst="rect">
            <a:avLst/>
          </a:prstGeom>
        </p:spPr>
        <p:txBody>
          <a:bodyPr/>
          <a:lstStyle>
            <a:lvl1pPr defTabSz="914400">
              <a:lnSpc>
                <a:spcPct val="90000"/>
              </a:lnSpc>
              <a:defRPr b="0" spc="0" sz="4400">
                <a:latin typeface="Aptos Display"/>
                <a:ea typeface="Aptos Display"/>
                <a:cs typeface="Aptos Display"/>
                <a:sym typeface="Aptos Display"/>
              </a:defRPr>
            </a:lvl1pPr>
          </a:lstStyle>
          <a:p>
            <a:pPr/>
            <a:r>
              <a:t>Details</a:t>
            </a:r>
          </a:p>
        </p:txBody>
      </p:sp>
      <p:sp>
        <p:nvSpPr>
          <p:cNvPr id="155" name="Github: https://github.com/PranavNambiar123/PM2.5-Prediction-Project-IIT-Kanpur…"/>
          <p:cNvSpPr txBox="1"/>
          <p:nvPr>
            <p:ph type="body" idx="1"/>
          </p:nvPr>
        </p:nvSpPr>
        <p:spPr>
          <a:xfrm>
            <a:off x="1206500" y="4248503"/>
            <a:ext cx="21971000" cy="8256014"/>
          </a:xfrm>
          <a:prstGeom prst="rect">
            <a:avLst/>
          </a:prstGeom>
        </p:spPr>
        <p:txBody>
          <a:bodyPr lIns="50800" tIns="50800" rIns="50800" bIns="50800"/>
          <a:lstStyle/>
          <a:p>
            <a:pPr marL="228600" indent="-228600" defTabSz="914400">
              <a:lnSpc>
                <a:spcPct val="90000"/>
              </a:lnSpc>
              <a:spcBef>
                <a:spcPts val="1000"/>
              </a:spcBef>
              <a:buSzPct val="100000"/>
              <a:buFont typeface="Arial"/>
              <a:buChar char="•"/>
              <a:defRPr b="0" sz="2800" u="sng">
                <a:solidFill>
                  <a:srgbClr val="0000FF"/>
                </a:solidFill>
                <a:uFill>
                  <a:solidFill>
                    <a:srgbClr val="0000FF"/>
                  </a:solidFill>
                </a:uFill>
                <a:latin typeface="Aptos"/>
                <a:ea typeface="Aptos"/>
                <a:cs typeface="Aptos"/>
                <a:sym typeface="Aptos"/>
              </a:defRPr>
            </a:pPr>
            <a:r>
              <a:rPr>
                <a:hlinkClick r:id="rId2" invalidUrl="" action="" tgtFrame="" tooltip="" history="1" highlightClick="0" endSnd="0"/>
              </a:rPr>
              <a:t>Github</a:t>
            </a:r>
            <a:r>
              <a:rPr>
                <a:hlinkClick r:id="rId2" invalidUrl="" action="" tgtFrame="" tooltip="" history="1" highlightClick="0" endSnd="0"/>
              </a:rPr>
              <a:t>: https://github.com/PranavNambiar123/PM2.5-Prediction-Project-IIT-Kanpur</a:t>
            </a:r>
            <a:endParaRPr>
              <a:solidFill>
                <a:srgbClr val="467886"/>
              </a:solidFill>
              <a:uFill>
                <a:solidFill>
                  <a:srgbClr val="467886"/>
                </a:solidFill>
              </a:uFill>
            </a:endParaRPr>
          </a:p>
          <a:p>
            <a:pPr marL="228600" indent="-228600" defTabSz="914400">
              <a:lnSpc>
                <a:spcPct val="90000"/>
              </a:lnSpc>
              <a:spcBef>
                <a:spcPts val="1000"/>
              </a:spcBef>
              <a:buSzPct val="100000"/>
              <a:buFont typeface="Arial"/>
              <a:buChar char="•"/>
              <a:defRPr b="0" sz="2800">
                <a:latin typeface="Aptos"/>
                <a:ea typeface="Aptos"/>
                <a:cs typeface="Aptos"/>
                <a:sym typeface="Aptos"/>
              </a:defRPr>
            </a:pPr>
            <a:r>
              <a:t>Roll number: 233562458</a:t>
            </a:r>
          </a:p>
          <a:p>
            <a:pPr marL="228600" indent="-228600" defTabSz="914400">
              <a:lnSpc>
                <a:spcPct val="90000"/>
              </a:lnSpc>
              <a:spcBef>
                <a:spcPts val="1000"/>
              </a:spcBef>
              <a:buSzPct val="100000"/>
              <a:buFont typeface="Arial"/>
              <a:buChar char="•"/>
              <a:defRPr b="0" sz="2800">
                <a:latin typeface="Aptos"/>
                <a:ea typeface="Aptos"/>
                <a:cs typeface="Aptos"/>
                <a:sym typeface="Aptos"/>
              </a:defRPr>
            </a:pPr>
            <a:r>
              <a:t>IITK email: nambiarpv23@iitk.ac.in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Previously"/>
          <p:cNvSpPr txBox="1"/>
          <p:nvPr>
            <p:ph type="title"/>
          </p:nvPr>
        </p:nvSpPr>
        <p:spPr>
          <a:prstGeom prst="rect">
            <a:avLst/>
          </a:prstGeom>
        </p:spPr>
        <p:txBody>
          <a:bodyPr/>
          <a:lstStyle>
            <a:lvl1pPr>
              <a:defRPr spc="-200"/>
            </a:lvl1pPr>
          </a:lstStyle>
          <a:p>
            <a:pPr/>
            <a:r>
              <a:t>Previously</a:t>
            </a:r>
          </a:p>
        </p:txBody>
      </p:sp>
      <p:sp>
        <p:nvSpPr>
          <p:cNvPr id="158" name="We cleaned data using different cleaning methods: linear interpolation, spatial average or mean, median methods…"/>
          <p:cNvSpPr txBox="1"/>
          <p:nvPr>
            <p:ph type="body" idx="1"/>
          </p:nvPr>
        </p:nvSpPr>
        <p:spPr>
          <a:xfrm>
            <a:off x="1206500" y="4248503"/>
            <a:ext cx="21971000" cy="8256014"/>
          </a:xfrm>
          <a:prstGeom prst="rect">
            <a:avLst/>
          </a:prstGeom>
        </p:spPr>
        <p:txBody>
          <a:bodyPr lIns="50800" tIns="50800" rIns="50800" bIns="50800"/>
          <a:lstStyle/>
          <a:p>
            <a:pPr marL="609600" indent="-609600" defTabSz="2438337">
              <a:lnSpc>
                <a:spcPct val="90000"/>
              </a:lnSpc>
              <a:spcBef>
                <a:spcPts val="4500"/>
              </a:spcBef>
              <a:buSzPct val="123000"/>
              <a:buChar char="•"/>
              <a:defRPr b="0" sz="4800"/>
            </a:pPr>
            <a:r>
              <a:t>We cleaned data using different cleaning methods: linear interpolation, spatial average or mean, median methods</a:t>
            </a:r>
          </a:p>
          <a:p>
            <a:pPr marL="609600" indent="-609600" defTabSz="2438337">
              <a:lnSpc>
                <a:spcPct val="90000"/>
              </a:lnSpc>
              <a:spcBef>
                <a:spcPts val="4500"/>
              </a:spcBef>
              <a:buSzPct val="123000"/>
              <a:buChar char="•"/>
              <a:defRPr b="0" sz="4800"/>
            </a:pPr>
            <a:r>
              <a:t>Passed this cleaned data through a linear regression</a:t>
            </a:r>
          </a:p>
          <a:p>
            <a:pPr marL="609600" indent="-609600" defTabSz="2438337">
              <a:lnSpc>
                <a:spcPct val="90000"/>
              </a:lnSpc>
              <a:spcBef>
                <a:spcPts val="4500"/>
              </a:spcBef>
              <a:buSzPct val="123000"/>
              <a:buChar char="•"/>
              <a:defRPr b="0" sz="4800"/>
            </a:pPr>
            <a:r>
              <a:t>This presentation we go through gradient boosting and checking how it works for the problem</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Overall Flow"/>
          <p:cNvSpPr txBox="1"/>
          <p:nvPr>
            <p:ph type="title"/>
          </p:nvPr>
        </p:nvSpPr>
        <p:spPr>
          <a:prstGeom prst="rect">
            <a:avLst/>
          </a:prstGeom>
        </p:spPr>
        <p:txBody>
          <a:bodyPr/>
          <a:lstStyle>
            <a:lvl1pPr>
              <a:defRPr spc="-200"/>
            </a:lvl1pPr>
          </a:lstStyle>
          <a:p>
            <a:pPr/>
            <a:r>
              <a:t>Today’s Flow</a:t>
            </a:r>
          </a:p>
        </p:txBody>
      </p:sp>
      <p:pic>
        <p:nvPicPr>
          <p:cNvPr id="161" name="mermaid-diagram-2025-03-09-055121.png" descr="mermaid-diagram-2025-03-09-055121.png"/>
          <p:cNvPicPr>
            <a:picLocks noChangeAspect="1"/>
          </p:cNvPicPr>
          <p:nvPr/>
        </p:nvPicPr>
        <p:blipFill>
          <a:blip r:embed="rId2">
            <a:extLst/>
          </a:blip>
          <a:stretch>
            <a:fillRect/>
          </a:stretch>
        </p:blipFill>
        <p:spPr>
          <a:xfrm>
            <a:off x="8419924" y="-3"/>
            <a:ext cx="10679908" cy="13716005"/>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 name="Gradient Boosting"/>
          <p:cNvSpPr txBox="1"/>
          <p:nvPr>
            <p:ph type="title"/>
          </p:nvPr>
        </p:nvSpPr>
        <p:spPr>
          <a:prstGeom prst="rect">
            <a:avLst/>
          </a:prstGeom>
        </p:spPr>
        <p:txBody>
          <a:bodyPr/>
          <a:lstStyle>
            <a:lvl1pPr>
              <a:defRPr spc="-200"/>
            </a:lvl1pPr>
          </a:lstStyle>
          <a:p>
            <a:pPr/>
            <a:r>
              <a:t>Gradient Boosting</a:t>
            </a:r>
          </a:p>
        </p:txBody>
      </p:sp>
      <p:sp>
        <p:nvSpPr>
          <p:cNvPr id="164" name="XGBoost is a good algorithm for PM2.5 prediction generally…"/>
          <p:cNvSpPr txBox="1"/>
          <p:nvPr>
            <p:ph type="body" idx="1"/>
          </p:nvPr>
        </p:nvSpPr>
        <p:spPr>
          <a:xfrm>
            <a:off x="1206500" y="4248503"/>
            <a:ext cx="21971000" cy="8256014"/>
          </a:xfrm>
          <a:prstGeom prst="rect">
            <a:avLst/>
          </a:prstGeom>
        </p:spPr>
        <p:txBody>
          <a:bodyPr lIns="50800" tIns="50800" rIns="50800" bIns="50800"/>
          <a:lstStyle/>
          <a:p>
            <a:pPr marL="536447" indent="-536447" defTabSz="2145737">
              <a:lnSpc>
                <a:spcPct val="90000"/>
              </a:lnSpc>
              <a:spcBef>
                <a:spcPts val="3900"/>
              </a:spcBef>
              <a:buSzPct val="123000"/>
              <a:buChar char="•"/>
              <a:defRPr b="0" sz="4200"/>
            </a:pPr>
            <a:r>
              <a:t>XGBoost is a good algorithm for PM2.5 prediction generally</a:t>
            </a:r>
          </a:p>
          <a:p>
            <a:pPr marL="536447" indent="-536447" defTabSz="2145737">
              <a:lnSpc>
                <a:spcPct val="90000"/>
              </a:lnSpc>
              <a:spcBef>
                <a:spcPts val="3900"/>
              </a:spcBef>
              <a:buSzPct val="123000"/>
              <a:buChar char="•"/>
              <a:defRPr b="0" sz="4200"/>
            </a:pPr>
            <a:r>
              <a:t>As we have interactions between different factors which can be captured in it’s decision trees</a:t>
            </a:r>
          </a:p>
          <a:p>
            <a:pPr marL="536447" indent="-536447" defTabSz="2145737">
              <a:lnSpc>
                <a:spcPct val="90000"/>
              </a:lnSpc>
              <a:spcBef>
                <a:spcPts val="3900"/>
              </a:spcBef>
              <a:buSzPct val="123000"/>
              <a:buChar char="•"/>
              <a:defRPr b="0" sz="4200"/>
            </a:pPr>
            <a:r>
              <a:t>Also xgboost internally handles null or Nan data points</a:t>
            </a:r>
          </a:p>
          <a:p>
            <a:pPr marL="536447" indent="-536447" defTabSz="2145737">
              <a:lnSpc>
                <a:spcPct val="90000"/>
              </a:lnSpc>
              <a:spcBef>
                <a:spcPts val="3900"/>
              </a:spcBef>
              <a:buSzPct val="123000"/>
              <a:buChar char="•"/>
              <a:defRPr b="0" sz="4200"/>
            </a:pPr>
            <a:r>
              <a:t>Also includes L1 and L2 regularisation</a:t>
            </a:r>
          </a:p>
          <a:p>
            <a:pPr marL="536447" indent="-536447" defTabSz="2145737">
              <a:lnSpc>
                <a:spcPct val="90000"/>
              </a:lnSpc>
              <a:spcBef>
                <a:spcPts val="3900"/>
              </a:spcBef>
              <a:buSzPct val="123000"/>
              <a:buChar char="•"/>
              <a:defRPr b="0" sz="4200"/>
            </a:pPr>
            <a:r>
              <a:t>The downside is that it is very memory intensive, as it creates an ensemble of decision trees the memory required to store the model increases linearly with the number of trees.</a:t>
            </a:r>
          </a:p>
          <a:p>
            <a:pPr lvl="1" marL="1072894" indent="-536447" defTabSz="2145737">
              <a:lnSpc>
                <a:spcPct val="90000"/>
              </a:lnSpc>
              <a:spcBef>
                <a:spcPts val="3900"/>
              </a:spcBef>
              <a:defRPr b="0" sz="4200"/>
            </a:pPr>
            <a:r>
              <a:t>We used number of trees = 200 and max depth = 8 for our training. (Had to reduce down to ensure the model loads)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Issue faced and optimisations"/>
          <p:cNvSpPr txBox="1"/>
          <p:nvPr>
            <p:ph type="title"/>
          </p:nvPr>
        </p:nvSpPr>
        <p:spPr>
          <a:prstGeom prst="rect">
            <a:avLst/>
          </a:prstGeom>
        </p:spPr>
        <p:txBody>
          <a:bodyPr/>
          <a:lstStyle>
            <a:lvl1pPr>
              <a:defRPr spc="-200"/>
            </a:lvl1pPr>
          </a:lstStyle>
          <a:p>
            <a:pPr/>
            <a:r>
              <a:t>Issue faced and optimisations</a:t>
            </a:r>
          </a:p>
        </p:txBody>
      </p:sp>
      <p:sp>
        <p:nvSpPr>
          <p:cNvPr id="167" name="Faced a lot of issues with size and memory used for training as the system was not able to handle the full load during training  Here are the key optimizations we made to improve memory usage and prevent overheating:…"/>
          <p:cNvSpPr txBox="1"/>
          <p:nvPr>
            <p:ph type="body" idx="1"/>
          </p:nvPr>
        </p:nvSpPr>
        <p:spPr>
          <a:xfrm>
            <a:off x="751352" y="2813823"/>
            <a:ext cx="22426148" cy="9690694"/>
          </a:xfrm>
          <a:prstGeom prst="rect">
            <a:avLst/>
          </a:prstGeom>
        </p:spPr>
        <p:txBody>
          <a:bodyPr lIns="50800" tIns="50800" rIns="50800" bIns="50800"/>
          <a:lstStyle/>
          <a:p>
            <a:pPr marL="209702" indent="-209702" defTabSz="838788">
              <a:lnSpc>
                <a:spcPct val="90000"/>
              </a:lnSpc>
              <a:spcBef>
                <a:spcPts val="1500"/>
              </a:spcBef>
              <a:buSzPct val="123000"/>
              <a:buChar char="•"/>
              <a:defRPr b="0" sz="1600"/>
            </a:pPr>
            <a:r>
              <a:t>Faced a lot of issues with size and memory used for training as the system was not able to handle the full load during training</a:t>
            </a:r>
            <a:br/>
            <a:br/>
            <a:r>
              <a:t>Here are the key optimizations we made to improve memory usage and prevent overheating:</a:t>
            </a:r>
          </a:p>
          <a:p>
            <a:pPr defTabSz="838788">
              <a:lnSpc>
                <a:spcPct val="90000"/>
              </a:lnSpc>
              <a:spcBef>
                <a:spcPts val="1500"/>
              </a:spcBef>
              <a:defRPr b="0" sz="1600"/>
            </a:pPr>
          </a:p>
          <a:p>
            <a:pPr lvl="1" marL="209702" indent="-209702" defTabSz="838788">
              <a:lnSpc>
                <a:spcPct val="90000"/>
              </a:lnSpc>
              <a:spcBef>
                <a:spcPts val="1500"/>
              </a:spcBef>
              <a:defRPr b="0" sz="1600"/>
            </a:pPr>
            <a:r>
              <a:t>Chunked CSV reading (1000 rows per chunk)</a:t>
            </a:r>
          </a:p>
          <a:p>
            <a:pPr lvl="1" marL="209702" indent="-209702" defTabSz="838788">
              <a:lnSpc>
                <a:spcPct val="90000"/>
              </a:lnSpc>
              <a:spcBef>
                <a:spcPts val="1500"/>
              </a:spcBef>
              <a:defRPr b="0" sz="1600"/>
            </a:pPr>
            <a:r>
              <a:t>Minimal feature set (only hour_sin and rolling_mean_6h)</a:t>
            </a:r>
          </a:p>
          <a:p>
            <a:pPr lvl="1" marL="209702" indent="-209702" defTabSz="838788">
              <a:lnSpc>
                <a:spcPct val="90000"/>
              </a:lnSpc>
              <a:spcBef>
                <a:spcPts val="1500"/>
              </a:spcBef>
              <a:defRPr b="0" sz="1600"/>
            </a:pPr>
            <a:r>
              <a:t>Aggressive memory cleanup between operations</a:t>
            </a:r>
          </a:p>
          <a:p>
            <a:pPr marL="209702" indent="-209702" defTabSz="838788">
              <a:lnSpc>
                <a:spcPct val="90000"/>
              </a:lnSpc>
              <a:spcBef>
                <a:spcPts val="1500"/>
              </a:spcBef>
              <a:buSzPct val="123000"/>
              <a:buChar char="•"/>
              <a:defRPr b="0" sz="1600"/>
            </a:pPr>
            <a:r>
              <a:t>Split data into 4 chunks for incremental training</a:t>
            </a:r>
          </a:p>
          <a:p>
            <a:pPr marL="209702" indent="-209702" defTabSz="838788">
              <a:lnSpc>
                <a:spcPct val="90000"/>
              </a:lnSpc>
              <a:spcBef>
                <a:spcPts val="1500"/>
              </a:spcBef>
              <a:buSzPct val="123000"/>
              <a:buChar char="•"/>
              <a:defRPr b="0" sz="1600"/>
            </a:pPr>
            <a:r>
              <a:t>Sequential horizon processing instead of parallel</a:t>
            </a:r>
          </a:p>
          <a:p>
            <a:pPr marL="209702" indent="-209702" defTabSz="838788">
              <a:lnSpc>
                <a:spcPct val="90000"/>
              </a:lnSpc>
              <a:spcBef>
                <a:spcPts val="1500"/>
              </a:spcBef>
              <a:buSzPct val="123000"/>
              <a:buChar char="•"/>
              <a:defRPr b="0" sz="1600"/>
            </a:pPr>
            <a:r>
              <a:t>Reduced batch size to 64 from 512</a:t>
            </a:r>
          </a:p>
          <a:p>
            <a:pPr marL="209702" indent="-209702" defTabSz="838788">
              <a:lnSpc>
                <a:spcPct val="90000"/>
              </a:lnSpc>
              <a:spcBef>
                <a:spcPts val="1500"/>
              </a:spcBef>
              <a:buSzPct val="123000"/>
              <a:buChar char="•"/>
              <a:defRPr b="0" sz="1600"/>
            </a:pPr>
            <a:r>
              <a:t>Progressive model updates instead of full retraining</a:t>
            </a:r>
          </a:p>
          <a:p>
            <a:pPr marL="209702" indent="-209702" defTabSz="838788">
              <a:lnSpc>
                <a:spcPct val="90000"/>
              </a:lnSpc>
              <a:spcBef>
                <a:spcPts val="1500"/>
              </a:spcBef>
              <a:buSzPct val="123000"/>
              <a:buChar char="•"/>
              <a:defRPr b="0" sz="1600"/>
            </a:pPr>
            <a:r>
              <a:t>Testing with single locality first</a:t>
            </a:r>
          </a:p>
          <a:p>
            <a:pPr marL="209702" indent="-209702" defTabSz="838788">
              <a:lnSpc>
                <a:spcPct val="90000"/>
              </a:lnSpc>
              <a:spcBef>
                <a:spcPts val="1500"/>
              </a:spcBef>
              <a:buSzPct val="123000"/>
              <a:buChar char="•"/>
              <a:defRPr b="0" sz="1600"/>
            </a:pPr>
            <a:r>
              <a:t>Added cooldown periods (10s between chunks)</a:t>
            </a:r>
          </a:p>
          <a:p>
            <a:pPr marL="209702" indent="-209702" defTabSz="838788">
              <a:lnSpc>
                <a:spcPct val="90000"/>
              </a:lnSpc>
              <a:spcBef>
                <a:spcPts val="1500"/>
              </a:spcBef>
              <a:buSzPct val="123000"/>
              <a:buChar char="•"/>
              <a:defRPr b="0" sz="1600"/>
            </a:pPr>
            <a:r>
              <a:t>Memory cleanup after each horizon</a:t>
            </a:r>
          </a:p>
          <a:p>
            <a:pPr marL="209702" indent="-209702" defTabSz="838788">
              <a:lnSpc>
                <a:spcPct val="90000"/>
              </a:lnSpc>
              <a:spcBef>
                <a:spcPts val="1500"/>
              </a:spcBef>
              <a:buSzPct val="123000"/>
              <a:buChar char="•"/>
              <a:defRPr b="0" sz="1600"/>
            </a:pPr>
            <a:r>
              <a:t>Longer pauses (60s) when resources are high</a:t>
            </a:r>
          </a:p>
          <a:p>
            <a:pPr marL="209702" indent="-209702" defTabSz="838788">
              <a:lnSpc>
                <a:spcPct val="90000"/>
              </a:lnSpc>
              <a:spcBef>
                <a:spcPts val="1500"/>
              </a:spcBef>
              <a:buSzPct val="123000"/>
              <a:buChar char="•"/>
              <a:defRPr b="0" sz="1600"/>
            </a:pPr>
            <a:r>
              <a:t>Removed less important features</a:t>
            </a:r>
          </a:p>
          <a:p>
            <a:pPr marL="209702" indent="-209702" defTabSz="838788">
              <a:lnSpc>
                <a:spcPct val="90000"/>
              </a:lnSpc>
              <a:spcBef>
                <a:spcPts val="1500"/>
              </a:spcBef>
              <a:buSzPct val="123000"/>
              <a:buChar char="•"/>
              <a:defRPr b="0" sz="1600"/>
            </a:pPr>
            <a:r>
              <a:t>Simplified time features</a:t>
            </a:r>
          </a:p>
          <a:p>
            <a:pPr marL="209702" indent="-209702" defTabSz="838788">
              <a:lnSpc>
                <a:spcPct val="90000"/>
              </a:lnSpc>
              <a:spcBef>
                <a:spcPts val="1500"/>
              </a:spcBef>
              <a:buSzPct val="123000"/>
              <a:buChar char="•"/>
              <a:defRPr b="0" sz="1600"/>
            </a:pPr>
            <a:r>
              <a:t>Using only basic rolling statistics</a:t>
            </a:r>
          </a:p>
          <a:p>
            <a:pPr marL="209702" indent="-209702" defTabSz="838788">
              <a:lnSpc>
                <a:spcPct val="90000"/>
              </a:lnSpc>
              <a:spcBef>
                <a:spcPts val="1500"/>
              </a:spcBef>
              <a:buSzPct val="123000"/>
              <a:buChar char="•"/>
              <a:defRPr b="0" sz="1600"/>
            </a:pPr>
            <a:r>
              <a:t>Efficient numpy operations for sequences</a:t>
            </a:r>
          </a:p>
          <a:p>
            <a:pPr marL="209702" indent="-209702" defTabSz="838788">
              <a:lnSpc>
                <a:spcPct val="90000"/>
              </a:lnSpc>
              <a:spcBef>
                <a:spcPts val="1500"/>
              </a:spcBef>
              <a:buSzPct val="123000"/>
              <a:buChar char="•"/>
              <a:defRPr b="0" sz="1600"/>
            </a:pPr>
            <a:r>
              <a:t>These changes significantly reduced memory usage while maintaining model functionality, though we're still seeing some resource constraints. The key tradeoff was reducing data resolution and feature complexity to improve processing efficiency.</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Given the data distribution for each region"/>
          <p:cNvSpPr txBox="1"/>
          <p:nvPr>
            <p:ph type="title"/>
          </p:nvPr>
        </p:nvSpPr>
        <p:spPr>
          <a:prstGeom prst="rect">
            <a:avLst/>
          </a:prstGeom>
        </p:spPr>
        <p:txBody>
          <a:bodyPr/>
          <a:lstStyle>
            <a:lvl1pPr>
              <a:defRPr spc="-200"/>
            </a:lvl1pPr>
          </a:lstStyle>
          <a:p>
            <a:pPr/>
            <a:r>
              <a:t>Given the data distribution for each region</a:t>
            </a:r>
          </a:p>
        </p:txBody>
      </p:sp>
      <p:sp>
        <p:nvSpPr>
          <p:cNvPr id="170" name="Slide Subtitle"/>
          <p:cNvSpPr txBox="1"/>
          <p:nvPr>
            <p:ph type="body" sz="quarter" idx="1"/>
          </p:nvPr>
        </p:nvSpPr>
        <p:spPr>
          <a:xfrm>
            <a:off x="1206500" y="2372960"/>
            <a:ext cx="21971000" cy="934780"/>
          </a:xfrm>
          <a:prstGeom prst="rect">
            <a:avLst/>
          </a:prstGeom>
        </p:spPr>
        <p:txBody>
          <a:bodyPr/>
          <a:lstStyle/>
          <a:p>
            <a:pPr/>
          </a:p>
        </p:txBody>
      </p:sp>
      <p:pic>
        <p:nvPicPr>
          <p:cNvPr id="171" name="missing_data_heatmap.png" descr="missing_data_heatmap.png"/>
          <p:cNvPicPr>
            <a:picLocks noChangeAspect="1"/>
          </p:cNvPicPr>
          <p:nvPr/>
        </p:nvPicPr>
        <p:blipFill>
          <a:blip r:embed="rId2">
            <a:extLst/>
          </a:blip>
          <a:stretch>
            <a:fillRect/>
          </a:stretch>
        </p:blipFill>
        <p:spPr>
          <a:xfrm>
            <a:off x="1431821" y="2449883"/>
            <a:ext cx="19047641" cy="11141343"/>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 name="Prediction per region with xgboost"/>
          <p:cNvSpPr txBox="1"/>
          <p:nvPr>
            <p:ph type="title"/>
          </p:nvPr>
        </p:nvSpPr>
        <p:spPr>
          <a:prstGeom prst="rect">
            <a:avLst/>
          </a:prstGeom>
        </p:spPr>
        <p:txBody>
          <a:bodyPr/>
          <a:lstStyle>
            <a:lvl1pPr>
              <a:defRPr spc="-200"/>
            </a:lvl1pPr>
          </a:lstStyle>
          <a:p>
            <a:pPr/>
            <a:r>
              <a:t>Prediction per region with xgboost</a:t>
            </a:r>
          </a:p>
        </p:txBody>
      </p:sp>
      <p:sp>
        <p:nvSpPr>
          <p:cNvPr id="174" name="Airport"/>
          <p:cNvSpPr txBox="1"/>
          <p:nvPr>
            <p:ph type="body" sz="quarter" idx="1"/>
          </p:nvPr>
        </p:nvSpPr>
        <p:spPr>
          <a:xfrm>
            <a:off x="1206500" y="2372960"/>
            <a:ext cx="21971000" cy="934780"/>
          </a:xfrm>
          <a:prstGeom prst="rect">
            <a:avLst/>
          </a:prstGeom>
        </p:spPr>
        <p:txBody>
          <a:bodyPr/>
          <a:lstStyle/>
          <a:p>
            <a:pPr/>
            <a:r>
              <a:t>Airport</a:t>
            </a:r>
          </a:p>
        </p:txBody>
      </p:sp>
      <p:sp>
        <p:nvSpPr>
          <p:cNvPr id="175" name="Slide bullet text"/>
          <p:cNvSpPr txBox="1"/>
          <p:nvPr>
            <p:ph type="body" idx="21"/>
          </p:nvPr>
        </p:nvSpPr>
        <p:spPr>
          <a:prstGeom prst="rect">
            <a:avLst/>
          </a:prstGeom>
        </p:spPr>
        <p:txBody>
          <a:bodyPr/>
          <a:lstStyle/>
          <a:p>
            <a:pPr/>
          </a:p>
        </p:txBody>
      </p:sp>
      <p:pic>
        <p:nvPicPr>
          <p:cNvPr id="176" name="xgboost_prediction_Airport.png" descr="xgboost_prediction_Airport.png"/>
          <p:cNvPicPr>
            <a:picLocks noChangeAspect="1"/>
          </p:cNvPicPr>
          <p:nvPr/>
        </p:nvPicPr>
        <p:blipFill>
          <a:blip r:embed="rId2">
            <a:extLst/>
          </a:blip>
          <a:stretch>
            <a:fillRect/>
          </a:stretch>
        </p:blipFill>
        <p:spPr>
          <a:xfrm>
            <a:off x="954046" y="3937036"/>
            <a:ext cx="9928226" cy="6896994"/>
          </a:xfrm>
          <a:prstGeom prst="rect">
            <a:avLst/>
          </a:prstGeom>
          <a:ln w="12700">
            <a:miter lim="400000"/>
          </a:ln>
        </p:spPr>
      </p:pic>
      <p:pic>
        <p:nvPicPr>
          <p:cNvPr id="177" name="xgboost_error_distribution_Airport.png" descr="xgboost_error_distribution_Airport.png"/>
          <p:cNvPicPr>
            <a:picLocks noChangeAspect="1"/>
          </p:cNvPicPr>
          <p:nvPr/>
        </p:nvPicPr>
        <p:blipFill>
          <a:blip r:embed="rId3">
            <a:extLst/>
          </a:blip>
          <a:stretch>
            <a:fillRect/>
          </a:stretch>
        </p:blipFill>
        <p:spPr>
          <a:xfrm>
            <a:off x="11567965" y="3727179"/>
            <a:ext cx="11982755" cy="7691126"/>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Prediction per region with xgboost"/>
          <p:cNvSpPr txBox="1"/>
          <p:nvPr>
            <p:ph type="title"/>
          </p:nvPr>
        </p:nvSpPr>
        <p:spPr>
          <a:prstGeom prst="rect">
            <a:avLst/>
          </a:prstGeom>
        </p:spPr>
        <p:txBody>
          <a:bodyPr/>
          <a:lstStyle>
            <a:lvl1pPr>
              <a:defRPr spc="-200"/>
            </a:lvl1pPr>
          </a:lstStyle>
          <a:p>
            <a:pPr/>
            <a:r>
              <a:t>Prediction per region with xgboost</a:t>
            </a:r>
          </a:p>
        </p:txBody>
      </p:sp>
      <p:sp>
        <p:nvSpPr>
          <p:cNvPr id="180" name="Colaba"/>
          <p:cNvSpPr txBox="1"/>
          <p:nvPr>
            <p:ph type="body" sz="quarter" idx="1"/>
          </p:nvPr>
        </p:nvSpPr>
        <p:spPr>
          <a:xfrm>
            <a:off x="1206500" y="2372960"/>
            <a:ext cx="21971000" cy="934780"/>
          </a:xfrm>
          <a:prstGeom prst="rect">
            <a:avLst/>
          </a:prstGeom>
        </p:spPr>
        <p:txBody>
          <a:bodyPr/>
          <a:lstStyle/>
          <a:p>
            <a:pPr/>
            <a:r>
              <a:t>Colaba</a:t>
            </a:r>
          </a:p>
        </p:txBody>
      </p:sp>
      <p:pic>
        <p:nvPicPr>
          <p:cNvPr id="181" name="lstm_prediction_Colaba.png" descr="lstm_prediction_Colaba.png"/>
          <p:cNvPicPr>
            <a:picLocks noChangeAspect="1"/>
          </p:cNvPicPr>
          <p:nvPr/>
        </p:nvPicPr>
        <p:blipFill>
          <a:blip r:embed="rId2">
            <a:extLst/>
          </a:blip>
          <a:stretch>
            <a:fillRect/>
          </a:stretch>
        </p:blipFill>
        <p:spPr>
          <a:xfrm>
            <a:off x="673140" y="4583426"/>
            <a:ext cx="10067104" cy="6993471"/>
          </a:xfrm>
          <a:prstGeom prst="rect">
            <a:avLst/>
          </a:prstGeom>
          <a:ln w="12700">
            <a:miter lim="400000"/>
          </a:ln>
        </p:spPr>
      </p:pic>
      <p:pic>
        <p:nvPicPr>
          <p:cNvPr id="182" name="lstm_error_distribution_Colaba.png" descr="lstm_error_distribution_Colaba.png"/>
          <p:cNvPicPr>
            <a:picLocks noChangeAspect="1"/>
          </p:cNvPicPr>
          <p:nvPr/>
        </p:nvPicPr>
        <p:blipFill>
          <a:blip r:embed="rId3">
            <a:extLst/>
          </a:blip>
          <a:srcRect l="0" t="3996" r="3832" b="0"/>
          <a:stretch>
            <a:fillRect/>
          </a:stretch>
        </p:blipFill>
        <p:spPr>
          <a:xfrm>
            <a:off x="11219163" y="4373052"/>
            <a:ext cx="12325709" cy="7897867"/>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Prediction per region with xgboost"/>
          <p:cNvSpPr txBox="1"/>
          <p:nvPr>
            <p:ph type="title"/>
          </p:nvPr>
        </p:nvSpPr>
        <p:spPr>
          <a:prstGeom prst="rect">
            <a:avLst/>
          </a:prstGeom>
        </p:spPr>
        <p:txBody>
          <a:bodyPr/>
          <a:lstStyle>
            <a:lvl1pPr>
              <a:defRPr spc="-200"/>
            </a:lvl1pPr>
          </a:lstStyle>
          <a:p>
            <a:pPr/>
            <a:r>
              <a:t>Prediction per region with xgboost</a:t>
            </a:r>
          </a:p>
        </p:txBody>
      </p:sp>
      <p:sp>
        <p:nvSpPr>
          <p:cNvPr id="185" name="Mulund"/>
          <p:cNvSpPr txBox="1"/>
          <p:nvPr>
            <p:ph type="body" sz="quarter" idx="1"/>
          </p:nvPr>
        </p:nvSpPr>
        <p:spPr>
          <a:xfrm>
            <a:off x="1206500" y="2372960"/>
            <a:ext cx="21971000" cy="934780"/>
          </a:xfrm>
          <a:prstGeom prst="rect">
            <a:avLst/>
          </a:prstGeom>
        </p:spPr>
        <p:txBody>
          <a:bodyPr/>
          <a:lstStyle/>
          <a:p>
            <a:pPr/>
            <a:r>
              <a:t>Mulund</a:t>
            </a:r>
          </a:p>
        </p:txBody>
      </p:sp>
      <p:pic>
        <p:nvPicPr>
          <p:cNvPr id="186" name="lstm_prediction_Mulund.png" descr="lstm_prediction_Mulund.png"/>
          <p:cNvPicPr>
            <a:picLocks noChangeAspect="1"/>
          </p:cNvPicPr>
          <p:nvPr/>
        </p:nvPicPr>
        <p:blipFill>
          <a:blip r:embed="rId2">
            <a:extLst/>
          </a:blip>
          <a:stretch>
            <a:fillRect/>
          </a:stretch>
        </p:blipFill>
        <p:spPr>
          <a:xfrm>
            <a:off x="600588" y="4673686"/>
            <a:ext cx="9923289" cy="6893568"/>
          </a:xfrm>
          <a:prstGeom prst="rect">
            <a:avLst/>
          </a:prstGeom>
          <a:ln w="12700">
            <a:miter lim="400000"/>
          </a:ln>
        </p:spPr>
      </p:pic>
      <p:pic>
        <p:nvPicPr>
          <p:cNvPr id="187" name="lstm_error_distribution_Mulund.png" descr="lstm_error_distribution_Mulund.png"/>
          <p:cNvPicPr>
            <a:picLocks noChangeAspect="1"/>
          </p:cNvPicPr>
          <p:nvPr/>
        </p:nvPicPr>
        <p:blipFill>
          <a:blip r:embed="rId3">
            <a:extLst/>
          </a:blip>
          <a:stretch>
            <a:fillRect/>
          </a:stretch>
        </p:blipFill>
        <p:spPr>
          <a:xfrm>
            <a:off x="11921969" y="4594309"/>
            <a:ext cx="10987504" cy="705232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Result"/>
          <p:cNvSpPr txBox="1"/>
          <p:nvPr>
            <p:ph type="title"/>
          </p:nvPr>
        </p:nvSpPr>
        <p:spPr>
          <a:prstGeom prst="rect">
            <a:avLst/>
          </a:prstGeom>
        </p:spPr>
        <p:txBody>
          <a:bodyPr/>
          <a:lstStyle>
            <a:lvl1pPr>
              <a:defRPr spc="-200"/>
            </a:lvl1pPr>
          </a:lstStyle>
          <a:p>
            <a:pPr/>
            <a:r>
              <a:t>Result</a:t>
            </a:r>
          </a:p>
        </p:txBody>
      </p:sp>
      <p:sp>
        <p:nvSpPr>
          <p:cNvPr id="190" name="Because I had to reduce the size for training the average Mae and RMSE were pretty bad with them being 45 and 55 for this algorithm…"/>
          <p:cNvSpPr txBox="1"/>
          <p:nvPr>
            <p:ph type="body" idx="1"/>
          </p:nvPr>
        </p:nvSpPr>
        <p:spPr>
          <a:xfrm>
            <a:off x="1206500" y="4248503"/>
            <a:ext cx="21971000" cy="8256014"/>
          </a:xfrm>
          <a:prstGeom prst="rect">
            <a:avLst/>
          </a:prstGeom>
        </p:spPr>
        <p:txBody>
          <a:bodyPr lIns="50800" tIns="50800" rIns="50800" bIns="50800"/>
          <a:lstStyle/>
          <a:p>
            <a:pPr marL="609600" indent="-609600" defTabSz="2438337">
              <a:lnSpc>
                <a:spcPct val="90000"/>
              </a:lnSpc>
              <a:spcBef>
                <a:spcPts val="4500"/>
              </a:spcBef>
              <a:buSzPct val="123000"/>
              <a:buChar char="•"/>
              <a:defRPr b="0" sz="4800"/>
            </a:pPr>
            <a:r>
              <a:t>Because I had to reduce the features for training the average Mae and RMSE were pretty bad with them being 45 and 55 for this algorithm</a:t>
            </a:r>
          </a:p>
          <a:p>
            <a:pPr marL="609600" indent="-609600" defTabSz="2438337">
              <a:lnSpc>
                <a:spcPct val="90000"/>
              </a:lnSpc>
              <a:spcBef>
                <a:spcPts val="4500"/>
              </a:spcBef>
              <a:buSzPct val="123000"/>
              <a:buChar char="•"/>
              <a:defRPr b="0" sz="4800"/>
            </a:pPr>
            <a:r>
              <a:t>Also as seen the predictions get random while predicting further away in the future</a:t>
            </a:r>
          </a:p>
          <a:p>
            <a:pPr marL="609600" indent="-609600" defTabSz="2438337">
              <a:lnSpc>
                <a:spcPct val="90000"/>
              </a:lnSpc>
              <a:spcBef>
                <a:spcPts val="4500"/>
              </a:spcBef>
              <a:buSzPct val="123000"/>
              <a:buChar char="•"/>
              <a:defRPr b="0" sz="4800"/>
            </a:pPr>
            <a:r>
              <a:t>As it is very difficult to scale up using this algorithm due to resource issues</a:t>
            </a:r>
          </a:p>
          <a:p>
            <a:pPr marL="609600" indent="-609600" defTabSz="2438337">
              <a:lnSpc>
                <a:spcPct val="90000"/>
              </a:lnSpc>
              <a:spcBef>
                <a:spcPts val="4500"/>
              </a:spcBef>
              <a:buSzPct val="123000"/>
              <a:buChar char="•"/>
              <a:defRPr b="0" sz="4800"/>
            </a:pPr>
            <a:r>
              <a:t>So I am changing the algorithm to LSTM going forward as it is not so resource intensive and is traditionally suited for time sequences</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a:ea typeface="Helvetica"/>
        <a:cs typeface="Helvetica"/>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7"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