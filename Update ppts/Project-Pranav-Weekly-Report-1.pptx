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67" r:id="rId6"/>
    <p:sldId id="268" r:id="rId7"/>
    <p:sldId id="271" r:id="rId8"/>
    <p:sldId id="261" r:id="rId9"/>
    <p:sldId id="259" r:id="rId10"/>
    <p:sldId id="260" r:id="rId11"/>
    <p:sldId id="262" r:id="rId12"/>
    <p:sldId id="264" r:id="rId13"/>
    <p:sldId id="263" r:id="rId14"/>
    <p:sldId id="265" r:id="rId15"/>
    <p:sldId id="266" r:id="rId16"/>
    <p:sldId id="269" r:id="rId17"/>
    <p:sldId id="273" r:id="rId18"/>
    <p:sldId id="274" r:id="rId19"/>
    <p:sldId id="270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DF4523-FE06-41F1-89A8-654864986FCD}" v="10" dt="2025-02-06T17:31:19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58611-EC12-F245-CCB2-7DC04BC19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9A3F7E-4F53-9BE2-860A-43573AE12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1366D-DF8F-7F25-D326-7C544484F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5C41-9B28-47E6-9390-806644209E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0DD4B-4273-8898-2ACE-D5A5AAB9D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67C4B-3265-DD5F-4CE8-8AE9B711F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87D9-BA3C-4470-B915-05DD051CA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5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8665-3FB4-3B29-FBB5-7CB025876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69D55-18DD-D371-DFF1-F57D48D13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EF86B-AB42-E935-BC85-D3095579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5C41-9B28-47E6-9390-806644209E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B764-382A-79E3-D0D5-6A928BE40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3FC0F-4C09-ECCD-7A52-8EF19078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87D9-BA3C-4470-B915-05DD051CA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04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AA852-28B0-565A-55AE-A9905DE67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AEB44-1C69-D199-1E1C-6DD641CBA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FEAAA-F41A-F5B3-0654-7630B4C01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5C41-9B28-47E6-9390-806644209E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2B9EE-74D5-536D-08BB-BDA529FD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3D9BD-5A3F-1A6E-4506-AC92EAEE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87D9-BA3C-4470-B915-05DD051CA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891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DC775-0EE5-77FB-9E69-E1FAF725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B39EE-BD78-9AF1-4355-46E6F969E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260DB-1193-D57C-6940-20A685702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BC07F-ED94-C309-D530-21F3A35F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5C41-9B28-47E6-9390-806644209E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45722-47AF-3E46-852A-C6EE30D23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E812E-7ABB-6DD6-7A8D-E667984D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87D9-BA3C-4470-B915-05DD051CA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03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1A485-FAA2-3538-0AD1-229B259B9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41862-2E88-5244-A456-43AF12263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C8B5C-2FAB-A2CF-C7B3-B8718F8BF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866D4-7C10-8361-30DA-7002EA207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9697F1-53F9-20FF-8E3B-35AABB249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926EB3-13E0-D94C-EB40-503563E07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5C41-9B28-47E6-9390-806644209E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61758-5220-0CEC-0F3A-B3E2A8758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3D19CC-77BC-CC23-E8F4-CEC7188FC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87D9-BA3C-4470-B915-05DD051CA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0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5301-D846-6971-1CEC-EE0338B6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06FE2-8FC4-DEC6-A9DB-44AA6821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5C41-9B28-47E6-9390-806644209E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1EA91-FD42-05EB-9368-67036C09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0BEAD-9EB2-2027-5E35-F3C63415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87D9-BA3C-4470-B915-05DD051CA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93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E4709-5B07-90FC-9C17-2D8A9DE2B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5C41-9B28-47E6-9390-806644209E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F8C16D-98F8-620A-37BC-83E95612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2148-2675-6605-4644-D4085CDDC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87D9-BA3C-4470-B915-05DD051CA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434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EEE4-B654-616A-4E37-DFBA14EB8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2CDDD-592D-1251-C6CE-558A6D7F0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23E35-A910-3A67-2CF1-6CA3E4E5B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A40D3-E2C1-439A-AEDD-B220EDEE1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5C41-9B28-47E6-9390-806644209E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0173D-FBD9-BB92-4026-65DFDE455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1BEC8-4303-BD53-9BBF-5562B7EAF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87D9-BA3C-4470-B915-05DD051CA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654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08E08-4869-CB2C-AA3F-CB1462BE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54B8D-6913-2E89-0D6B-4BE5F9D38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DCD4D-2464-68D6-B299-DC9D0C4F0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AE289-EE4B-5CBA-F6EF-F36ED157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5C41-9B28-47E6-9390-806644209E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633EF-4606-D927-B58E-0AA9D544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E0FF6-3A9D-2554-9153-DC1437EB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87D9-BA3C-4470-B915-05DD051CA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443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CF64-0858-08F6-18E8-1B1A40E43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74E5C-F567-FB88-76F6-041BF4EA8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D394C-3F3B-2DDD-7924-996ED655B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5C41-9B28-47E6-9390-806644209E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11F73-AD0D-694E-00DC-60645078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080B9-EEEA-CE0D-CD6E-BF87A2E6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87D9-BA3C-4470-B915-05DD051CA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992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62CEE2-DD06-386E-16F7-03177C2B0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D8770-3489-ABEA-909B-CA97DA273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6AE1D-4988-5F2B-7862-6E3DB344E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5C41-9B28-47E6-9390-806644209E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8A77E-E9BA-2666-2AE5-17D79FEF3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83734-1F4D-E3D9-BDA6-A3217B49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87D9-BA3C-4470-B915-05DD051CA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992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E222D-662C-D630-CF5B-9236C761B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D7B2B-8D0B-CB34-47B9-6D29EE38A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3E2D6-4EEB-19F5-6B9E-70D905FD9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05C41-9B28-47E6-9390-806644209E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FCD4A-40F5-89A7-1048-132198D24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03F52-36CF-4C99-24DA-BEDECABBE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BE87D9-BA3C-4470-B915-05DD051CA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81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navNambiar123/PM2.5-Prediction-Project-IIT-Kanpu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navNambiar123/PM2.5-Prediction-Project-IIT-Kanpur/tree/pranavProject/plot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navNambiar123/PM2.5-Prediction-Project-IIT-Kanpur/tree/pranavProject/cleaned_dat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A5BB-2458-D975-5D02-BFA864E167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PM2.5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9CC5E-8747-EE1A-041E-F8D9016C30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 Pranav Nambiar</a:t>
            </a:r>
          </a:p>
        </p:txBody>
      </p:sp>
    </p:spTree>
    <p:extLst>
      <p:ext uri="{BB962C8B-B14F-4D97-AF65-F5344CB8AC3E}">
        <p14:creationId xmlns:p14="http://schemas.microsoft.com/office/powerpoint/2010/main" val="925661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5AC14-5FD3-E7E6-15F2-7E6AE9B41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3E0F-7B52-AB7E-5699-DF1BA21C6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>
                <a:hlinkClick r:id="rId2"/>
              </a:rPr>
              <a:t>Github</a:t>
            </a:r>
            <a:r>
              <a:rPr lang="en-IN" dirty="0">
                <a:hlinkClick r:id="rId2"/>
              </a:rPr>
              <a:t>: https://github.com/PranavNambiar123/PM2.5-Prediction-Project-IIT-Kanpur</a:t>
            </a:r>
            <a:endParaRPr lang="en-IN" dirty="0"/>
          </a:p>
          <a:p>
            <a:r>
              <a:rPr lang="en-IN" dirty="0"/>
              <a:t>Roll number: 233562458</a:t>
            </a:r>
          </a:p>
          <a:p>
            <a:r>
              <a:rPr lang="en-IN" dirty="0"/>
              <a:t>IITK email: nambiarpv23@iitk.ac.in</a:t>
            </a:r>
          </a:p>
        </p:txBody>
      </p:sp>
    </p:spTree>
    <p:extLst>
      <p:ext uri="{BB962C8B-B14F-4D97-AF65-F5344CB8AC3E}">
        <p14:creationId xmlns:p14="http://schemas.microsoft.com/office/powerpoint/2010/main" val="46545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5B38-B5A5-B876-BD19-B37D4680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visualizations and analysis</a:t>
            </a:r>
          </a:p>
        </p:txBody>
      </p:sp>
      <p:pic>
        <p:nvPicPr>
          <p:cNvPr id="9" name="Content Placeholder 8" descr="A screenshot of a graph&#10;&#10;AI-generated content may be incorrect.">
            <a:extLst>
              <a:ext uri="{FF2B5EF4-FFF2-40B4-BE49-F238E27FC236}">
                <a16:creationId xmlns:a16="http://schemas.microsoft.com/office/drawing/2014/main" id="{8D8FD559-B206-26EA-A14F-AB8E1A243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988" y="1567795"/>
            <a:ext cx="8348437" cy="4925080"/>
          </a:xfrm>
        </p:spPr>
      </p:pic>
    </p:spTree>
    <p:extLst>
      <p:ext uri="{BB962C8B-B14F-4D97-AF65-F5344CB8AC3E}">
        <p14:creationId xmlns:p14="http://schemas.microsoft.com/office/powerpoint/2010/main" val="770982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6FF9-AE04-265D-94D6-7DFA1309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 of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EA0A5-64C4-61BE-92C4-99E48FEFF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Airport, Borivali, Kurla, </a:t>
            </a:r>
            <a:r>
              <a:rPr lang="en-IN" dirty="0" err="1"/>
              <a:t>Mahape</a:t>
            </a:r>
            <a:r>
              <a:rPr lang="en-IN" dirty="0"/>
              <a:t>, Sion, </a:t>
            </a:r>
            <a:r>
              <a:rPr lang="en-IN" dirty="0" err="1"/>
              <a:t>Vileparle</a:t>
            </a:r>
            <a:r>
              <a:rPr lang="en-IN" dirty="0"/>
              <a:t> and Worli have relatively smooth data with missing data percentages being lower than 15-20% for each. We can perform feature analysis using these localities for good data analysis</a:t>
            </a:r>
          </a:p>
          <a:p>
            <a:r>
              <a:rPr lang="en-IN" dirty="0"/>
              <a:t>For the rest of the localities we need to perform different data transformations</a:t>
            </a:r>
          </a:p>
          <a:p>
            <a:pPr lvl="1"/>
            <a:r>
              <a:rPr lang="en-IN" dirty="0"/>
              <a:t>Mean/Median/Mode</a:t>
            </a:r>
          </a:p>
          <a:p>
            <a:pPr lvl="1"/>
            <a:r>
              <a:rPr lang="en-IN" dirty="0"/>
              <a:t>Eliminate the missing data events</a:t>
            </a:r>
          </a:p>
          <a:p>
            <a:pPr lvl="1"/>
            <a:r>
              <a:rPr lang="en-IN" dirty="0"/>
              <a:t>Linear interpolation (filling data between 2 non empty events linearly)</a:t>
            </a:r>
          </a:p>
          <a:p>
            <a:pPr lvl="1"/>
            <a:r>
              <a:rPr lang="en-IN" dirty="0"/>
              <a:t>Average of data of surrounding localities</a:t>
            </a:r>
          </a:p>
          <a:p>
            <a:r>
              <a:rPr lang="en-IN" dirty="0"/>
              <a:t>More plots information </a:t>
            </a:r>
            <a:r>
              <a:rPr lang="en-IN" dirty="0">
                <a:hlinkClick r:id="rId2"/>
              </a:rPr>
              <a:t>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1256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110F-BE63-ABEA-1872-684E5739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Performing cleaning methods, comparison</a:t>
            </a:r>
          </a:p>
        </p:txBody>
      </p:sp>
      <p:pic>
        <p:nvPicPr>
          <p:cNvPr id="5" name="Content Placeholder 4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F4041068-89F9-0037-FC1A-8FF465AD8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292" y="1383174"/>
            <a:ext cx="6557815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8B009C-2824-CA2E-CFD4-290FA8D65532}"/>
              </a:ext>
            </a:extLst>
          </p:cNvPr>
          <p:cNvSpPr txBox="1"/>
          <p:nvPr/>
        </p:nvSpPr>
        <p:spPr>
          <a:xfrm>
            <a:off x="3529781" y="5997677"/>
            <a:ext cx="4753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Visually seems spatial average will be the best</a:t>
            </a:r>
            <a:br>
              <a:rPr lang="en-IN" dirty="0"/>
            </a:br>
            <a:r>
              <a:rPr lang="en-IN" dirty="0"/>
              <a:t>Will know for sure once we test using models</a:t>
            </a:r>
          </a:p>
        </p:txBody>
      </p:sp>
    </p:spTree>
    <p:extLst>
      <p:ext uri="{BB962C8B-B14F-4D97-AF65-F5344CB8AC3E}">
        <p14:creationId xmlns:p14="http://schemas.microsoft.com/office/powerpoint/2010/main" val="387551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CE90D-ADF4-0BA8-114F-71F720B0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Performing cleaning methods, comparison</a:t>
            </a:r>
          </a:p>
        </p:txBody>
      </p:sp>
      <p:pic>
        <p:nvPicPr>
          <p:cNvPr id="5" name="Content Placeholder 4" descr="A graph showing a sound wave&#10;&#10;AI-generated content may be incorrect.">
            <a:extLst>
              <a:ext uri="{FF2B5EF4-FFF2-40B4-BE49-F238E27FC236}">
                <a16:creationId xmlns:a16="http://schemas.microsoft.com/office/drawing/2014/main" id="{36C7F1B0-6544-E2EB-ED21-0CCF3E303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111" y="1383173"/>
            <a:ext cx="6557815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EC2BBF-1284-6236-5823-C1D2709AA4AD}"/>
              </a:ext>
            </a:extLst>
          </p:cNvPr>
          <p:cNvSpPr txBox="1"/>
          <p:nvPr/>
        </p:nvSpPr>
        <p:spPr>
          <a:xfrm>
            <a:off x="4572000" y="6135329"/>
            <a:ext cx="326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This has over 50% data missing</a:t>
            </a:r>
          </a:p>
        </p:txBody>
      </p:sp>
    </p:spTree>
    <p:extLst>
      <p:ext uri="{BB962C8B-B14F-4D97-AF65-F5344CB8AC3E}">
        <p14:creationId xmlns:p14="http://schemas.microsoft.com/office/powerpoint/2010/main" val="1074336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A8B5-B0EE-71D6-2A88-8FE1D053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Cleaning methods,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167A0-3213-815E-BA4A-AD00CE688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Cleaned and updated all data here: </a:t>
            </a:r>
            <a:r>
              <a:rPr lang="en-IN" dirty="0">
                <a:hlinkClick r:id="rId2"/>
              </a:rPr>
              <a:t>https://github.com/PranavNambiar123/PM2.5-Prediction-Project-IIT-Kanpur/tree/pranavProject/cleaned_data</a:t>
            </a:r>
            <a:endParaRPr lang="en-IN" dirty="0"/>
          </a:p>
          <a:p>
            <a:r>
              <a:rPr lang="en-IN" dirty="0"/>
              <a:t>Cleaned each locality data individually</a:t>
            </a:r>
          </a:p>
        </p:txBody>
      </p:sp>
    </p:spTree>
    <p:extLst>
      <p:ext uri="{BB962C8B-B14F-4D97-AF65-F5344CB8AC3E}">
        <p14:creationId xmlns:p14="http://schemas.microsoft.com/office/powerpoint/2010/main" val="246874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75797-FC3F-6E72-F0DA-9DE960964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Quality by Station: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534C9-937E-593D-EFF8-8C3E93899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Best quality stations (&gt;90% complete PM2.5 data):</a:t>
            </a:r>
          </a:p>
          <a:p>
            <a:pPr lvl="1"/>
            <a:r>
              <a:rPr lang="en-IN" dirty="0"/>
              <a:t>Sion (97.8%)</a:t>
            </a:r>
          </a:p>
          <a:p>
            <a:pPr lvl="1"/>
            <a:r>
              <a:rPr lang="en-IN" dirty="0"/>
              <a:t>Powai (96.5%)</a:t>
            </a:r>
          </a:p>
          <a:p>
            <a:pPr lvl="1"/>
            <a:r>
              <a:rPr lang="en-IN" dirty="0" err="1"/>
              <a:t>Vileparle</a:t>
            </a:r>
            <a:r>
              <a:rPr lang="en-IN" dirty="0"/>
              <a:t> (92.3%)</a:t>
            </a:r>
          </a:p>
          <a:p>
            <a:pPr lvl="1"/>
            <a:r>
              <a:rPr lang="en-IN" dirty="0"/>
              <a:t>Airport (91.0%)</a:t>
            </a:r>
          </a:p>
          <a:p>
            <a:r>
              <a:rPr lang="en-IN" dirty="0"/>
              <a:t>Moderate quality (75-90% complete PM2.5 data):</a:t>
            </a:r>
          </a:p>
          <a:p>
            <a:pPr lvl="1"/>
            <a:r>
              <a:rPr lang="en-IN" dirty="0"/>
              <a:t>Kurla (88.6%)</a:t>
            </a:r>
          </a:p>
          <a:p>
            <a:pPr lvl="1"/>
            <a:r>
              <a:rPr lang="en-IN" dirty="0" err="1"/>
              <a:t>Mahape</a:t>
            </a:r>
            <a:r>
              <a:rPr lang="en-IN" dirty="0"/>
              <a:t> (88.9%)</a:t>
            </a:r>
          </a:p>
          <a:p>
            <a:pPr lvl="1"/>
            <a:r>
              <a:rPr lang="en-IN" dirty="0"/>
              <a:t>Borivali (85.9%)</a:t>
            </a:r>
          </a:p>
          <a:p>
            <a:pPr lvl="1"/>
            <a:r>
              <a:rPr lang="en-IN" dirty="0"/>
              <a:t>Worli (81.5%)</a:t>
            </a:r>
          </a:p>
          <a:p>
            <a:pPr lvl="1"/>
            <a:r>
              <a:rPr lang="en-IN" dirty="0"/>
              <a:t>Vasai (79.9%)</a:t>
            </a:r>
          </a:p>
          <a:p>
            <a:pPr lvl="1"/>
            <a:r>
              <a:rPr lang="en-IN" dirty="0"/>
              <a:t>Kalyan (79.4%)</a:t>
            </a:r>
          </a:p>
          <a:p>
            <a:r>
              <a:rPr lang="en-IN" dirty="0"/>
              <a:t>Lower quality (&lt;75% complete PM2.5 data):</a:t>
            </a:r>
          </a:p>
          <a:p>
            <a:pPr lvl="1"/>
            <a:r>
              <a:rPr lang="en-IN" dirty="0"/>
              <a:t>Kandivali (74.5%)</a:t>
            </a:r>
          </a:p>
          <a:p>
            <a:pPr lvl="1"/>
            <a:r>
              <a:rPr lang="en-IN" dirty="0"/>
              <a:t>Nerul (74.3%)</a:t>
            </a:r>
          </a:p>
          <a:p>
            <a:pPr lvl="1"/>
            <a:r>
              <a:rPr lang="en-IN" dirty="0"/>
              <a:t>Colaba (65.9%)</a:t>
            </a:r>
          </a:p>
          <a:p>
            <a:pPr lvl="1"/>
            <a:r>
              <a:rPr lang="en-IN" dirty="0"/>
              <a:t>Bandra (62.9%)</a:t>
            </a:r>
          </a:p>
          <a:p>
            <a:pPr lvl="1"/>
            <a:r>
              <a:rPr lang="en-IN" dirty="0"/>
              <a:t>Mulund (61.7%)</a:t>
            </a:r>
          </a:p>
        </p:txBody>
      </p:sp>
    </p:spTree>
    <p:extLst>
      <p:ext uri="{BB962C8B-B14F-4D97-AF65-F5344CB8AC3E}">
        <p14:creationId xmlns:p14="http://schemas.microsoft.com/office/powerpoint/2010/main" val="496751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E0B9-B833-3C02-4571-834750ECC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correlation</a:t>
            </a:r>
          </a:p>
        </p:txBody>
      </p:sp>
      <p:pic>
        <p:nvPicPr>
          <p:cNvPr id="13" name="Content Placeholder 12" descr="A screenshot of a red and blue grid&#10;&#10;AI-generated content may be incorrect.">
            <a:extLst>
              <a:ext uri="{FF2B5EF4-FFF2-40B4-BE49-F238E27FC236}">
                <a16:creationId xmlns:a16="http://schemas.microsoft.com/office/drawing/2014/main" id="{4E91EB2C-FDD0-B4E1-E6F6-23406423B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876" y="1825625"/>
            <a:ext cx="5118247" cy="4351338"/>
          </a:xfrm>
        </p:spPr>
      </p:pic>
    </p:spTree>
    <p:extLst>
      <p:ext uri="{BB962C8B-B14F-4D97-AF65-F5344CB8AC3E}">
        <p14:creationId xmlns:p14="http://schemas.microsoft.com/office/powerpoint/2010/main" val="3111439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79F92-9DA6-7621-CE06-05742174D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correlation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E5BC76-DC66-D4B3-9289-4C5EDF2F7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Performed feature correlation for Vile Parle as it is one of the most complete dataset</a:t>
            </a:r>
          </a:p>
          <a:p>
            <a:r>
              <a:rPr lang="en-IN" dirty="0"/>
              <a:t>There is a high correlation between PM2.5 and PM10. When PM2.5 increases, PM10 also increases in a similar manner</a:t>
            </a:r>
          </a:p>
          <a:p>
            <a:r>
              <a:rPr lang="en-IN" dirty="0"/>
              <a:t>There is weak negative correlation between PM2.5 and Relative humidity. There is almost no linear relationship</a:t>
            </a:r>
          </a:p>
          <a:p>
            <a:r>
              <a:rPr lang="en-IN" dirty="0"/>
              <a:t>There is moderate negative correlation between PM2.5 and Air Temperature. If temperature increases PM2.5 decreases and vice versa</a:t>
            </a:r>
          </a:p>
        </p:txBody>
      </p:sp>
    </p:spTree>
    <p:extLst>
      <p:ext uri="{BB962C8B-B14F-4D97-AF65-F5344CB8AC3E}">
        <p14:creationId xmlns:p14="http://schemas.microsoft.com/office/powerpoint/2010/main" val="4229410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C219-7BB0-78BD-183B-A8010D6F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PM2.5 Patterns over period of time</a:t>
            </a:r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A68ACF03-EAD1-C93C-1FA2-6FD3D8F61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325" y="1461832"/>
            <a:ext cx="8242703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6EE31F-FB55-F755-B31D-CF787CAAA8C3}"/>
              </a:ext>
            </a:extLst>
          </p:cNvPr>
          <p:cNvSpPr txBox="1"/>
          <p:nvPr/>
        </p:nvSpPr>
        <p:spPr>
          <a:xfrm>
            <a:off x="2920181" y="5968181"/>
            <a:ext cx="5627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Doesn’t tell a lot except seasonal information of PM2.5</a:t>
            </a:r>
          </a:p>
        </p:txBody>
      </p:sp>
    </p:spTree>
    <p:extLst>
      <p:ext uri="{BB962C8B-B14F-4D97-AF65-F5344CB8AC3E}">
        <p14:creationId xmlns:p14="http://schemas.microsoft.com/office/powerpoint/2010/main" val="1407647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C7649-AE73-7B5B-FCF3-206734C5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PM2.5 average patterns over seasons</a:t>
            </a:r>
          </a:p>
        </p:txBody>
      </p:sp>
      <p:pic>
        <p:nvPicPr>
          <p:cNvPr id="5" name="Content Placeholder 4" descr="A graph of lines and colors&#10;&#10;AI-generated content may be incorrect.">
            <a:extLst>
              <a:ext uri="{FF2B5EF4-FFF2-40B4-BE49-F238E27FC236}">
                <a16:creationId xmlns:a16="http://schemas.microsoft.com/office/drawing/2014/main" id="{787A452F-6DF1-AF85-F324-840870DA4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009" y="1690688"/>
            <a:ext cx="8242703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4B875B-903A-4C74-89F8-575649FAC000}"/>
              </a:ext>
            </a:extLst>
          </p:cNvPr>
          <p:cNvSpPr txBox="1"/>
          <p:nvPr/>
        </p:nvSpPr>
        <p:spPr>
          <a:xfrm>
            <a:off x="1111045" y="6087799"/>
            <a:ext cx="974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It tends to go up during winter and come down during summer and least in monsoon due to rain </a:t>
            </a:r>
          </a:p>
        </p:txBody>
      </p:sp>
    </p:spTree>
    <p:extLst>
      <p:ext uri="{BB962C8B-B14F-4D97-AF65-F5344CB8AC3E}">
        <p14:creationId xmlns:p14="http://schemas.microsoft.com/office/powerpoint/2010/main" val="1826244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4342-0129-BB64-9779-663B4282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PM2.5 for each hour of the day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2803B6D-8155-03D9-F76B-44175E52C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211" y="1461831"/>
            <a:ext cx="8242703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114704-9AFA-083F-B092-96EB9EF088AF}"/>
              </a:ext>
            </a:extLst>
          </p:cNvPr>
          <p:cNvSpPr txBox="1"/>
          <p:nvPr/>
        </p:nvSpPr>
        <p:spPr>
          <a:xfrm>
            <a:off x="2050083" y="5950821"/>
            <a:ext cx="9234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peak PM2.5 hours are morning 9 AM and evening 7-8 pm which are also peak rush hours</a:t>
            </a:r>
            <a:br>
              <a:rPr lang="en-IN" dirty="0"/>
            </a:br>
            <a:r>
              <a:rPr lang="en-IN" dirty="0"/>
              <a:t>Most people leave office at these hours and a lot of vehicles enter the roads</a:t>
            </a:r>
          </a:p>
        </p:txBody>
      </p:sp>
    </p:spTree>
    <p:extLst>
      <p:ext uri="{BB962C8B-B14F-4D97-AF65-F5344CB8AC3E}">
        <p14:creationId xmlns:p14="http://schemas.microsoft.com/office/powerpoint/2010/main" val="675373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C6B8-AD58-DE5E-0290-425C27D23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PM2.5 average over each day of the week</a:t>
            </a:r>
            <a:endParaRPr lang="en-IN" dirty="0"/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6C4FAE2-0B6F-63BA-C69B-58C40CE74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48" y="1383173"/>
            <a:ext cx="8242703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84761F-3370-801C-B697-AD72FFF86B9A}"/>
              </a:ext>
            </a:extLst>
          </p:cNvPr>
          <p:cNvSpPr txBox="1"/>
          <p:nvPr/>
        </p:nvSpPr>
        <p:spPr>
          <a:xfrm>
            <a:off x="1550331" y="5846544"/>
            <a:ext cx="9091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PM2.5 goes down over the weekend for most localities. Except localities like Worli, Mulund</a:t>
            </a:r>
          </a:p>
          <a:p>
            <a:r>
              <a:rPr lang="en-IN" dirty="0"/>
              <a:t>Known for their party scenes</a:t>
            </a:r>
          </a:p>
        </p:txBody>
      </p:sp>
    </p:spTree>
    <p:extLst>
      <p:ext uri="{BB962C8B-B14F-4D97-AF65-F5344CB8AC3E}">
        <p14:creationId xmlns:p14="http://schemas.microsoft.com/office/powerpoint/2010/main" val="3281881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DA33-4118-35D3-1BD2-0ECCD620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Regression Results (MAE)</a:t>
            </a:r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B9381E45-3092-F789-57C6-F33F801A7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355" y="1825625"/>
            <a:ext cx="8801289" cy="4351338"/>
          </a:xfrm>
        </p:spPr>
      </p:pic>
    </p:spTree>
    <p:extLst>
      <p:ext uri="{BB962C8B-B14F-4D97-AF65-F5344CB8AC3E}">
        <p14:creationId xmlns:p14="http://schemas.microsoft.com/office/powerpoint/2010/main" val="4095023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22B4F-33F4-3113-FD29-46C2DA4C9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Regression Results (RMSE)</a:t>
            </a:r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B3CDB85F-2024-73B6-8D78-9DACFEFA3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355" y="1825625"/>
            <a:ext cx="8801289" cy="4351338"/>
          </a:xfrm>
        </p:spPr>
      </p:pic>
    </p:spTree>
    <p:extLst>
      <p:ext uri="{BB962C8B-B14F-4D97-AF65-F5344CB8AC3E}">
        <p14:creationId xmlns:p14="http://schemas.microsoft.com/office/powerpoint/2010/main" val="4193151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B667-327A-FCC4-70A9-DFB528F47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Regression Results (R2)</a:t>
            </a:r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F72D38E3-5A9A-43D1-58EB-5BEADD748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355" y="1825625"/>
            <a:ext cx="8801289" cy="4351338"/>
          </a:xfrm>
        </p:spPr>
      </p:pic>
    </p:spTree>
    <p:extLst>
      <p:ext uri="{BB962C8B-B14F-4D97-AF65-F5344CB8AC3E}">
        <p14:creationId xmlns:p14="http://schemas.microsoft.com/office/powerpoint/2010/main" val="527454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FC7A-35A1-3AD6-41F1-01BBC5CB2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Regression Results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76868-9765-8D40-A96A-CEAEAC3A1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6674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The results of RMSE and MAE of around 25 and 20 respectively are quite bad considering  Mumbai’s PM2.5 generally ranges between 50 and 100</a:t>
            </a:r>
          </a:p>
          <a:p>
            <a:r>
              <a:rPr lang="en-IN" dirty="0"/>
              <a:t>The boxplots however show that spatial average (performing average of all data points across localities) is the one with the best performing results</a:t>
            </a:r>
          </a:p>
          <a:p>
            <a:r>
              <a:rPr lang="en-IN" dirty="0"/>
              <a:t>However the box is skewed to the bottom meaning the upper part of the data has more spread and there existing some high values</a:t>
            </a:r>
          </a:p>
          <a:p>
            <a:r>
              <a:rPr lang="en-IN" dirty="0"/>
              <a:t>Linear interpolation also worked almost as well as spatial average</a:t>
            </a:r>
          </a:p>
          <a:p>
            <a:r>
              <a:rPr lang="en-IN" dirty="0"/>
              <a:t>The mean/median method however worked relatively poorly against both the above mechanisms</a:t>
            </a:r>
          </a:p>
        </p:txBody>
      </p:sp>
    </p:spTree>
    <p:extLst>
      <p:ext uri="{BB962C8B-B14F-4D97-AF65-F5344CB8AC3E}">
        <p14:creationId xmlns:p14="http://schemas.microsoft.com/office/powerpoint/2010/main" val="2278053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60BB6-052F-E488-CFCB-CABEA17A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Ouput</a:t>
            </a:r>
            <a:r>
              <a:rPr lang="en-IN" dirty="0"/>
              <a:t> (Prediction vs Actual)</a:t>
            </a:r>
          </a:p>
        </p:txBody>
      </p:sp>
      <p:pic>
        <p:nvPicPr>
          <p:cNvPr id="5" name="Content Placeholder 4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829C5D6A-6A41-A06F-7560-AE1C5B3BE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508" y="1825625"/>
            <a:ext cx="6172983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384D30-0CBA-9DCA-DF7B-7DDB63A0A152}"/>
              </a:ext>
            </a:extLst>
          </p:cNvPr>
          <p:cNvSpPr txBox="1"/>
          <p:nvPr/>
        </p:nvSpPr>
        <p:spPr>
          <a:xfrm>
            <a:off x="1908410" y="6308209"/>
            <a:ext cx="8375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Loaded the model, found a date with complete data and performed prediction for it</a:t>
            </a:r>
          </a:p>
        </p:txBody>
      </p:sp>
    </p:spTree>
    <p:extLst>
      <p:ext uri="{BB962C8B-B14F-4D97-AF65-F5344CB8AC3E}">
        <p14:creationId xmlns:p14="http://schemas.microsoft.com/office/powerpoint/2010/main" val="3557758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7086-467B-A93E-01F6-71EC9D48A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Cleaning method prediction comparisons</a:t>
            </a:r>
          </a:p>
        </p:txBody>
      </p:sp>
      <p:pic>
        <p:nvPicPr>
          <p:cNvPr id="5" name="Content Placeholder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D6395B73-182C-C05A-3FAE-580DA61AF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894" y="1825625"/>
            <a:ext cx="6540211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828AFE-8D8C-72BF-C1DA-F0198B5249FD}"/>
              </a:ext>
            </a:extLst>
          </p:cNvPr>
          <p:cNvSpPr txBox="1"/>
          <p:nvPr/>
        </p:nvSpPr>
        <p:spPr>
          <a:xfrm>
            <a:off x="2797319" y="6159603"/>
            <a:ext cx="6568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 this example linear regression closely followed the actual data</a:t>
            </a:r>
          </a:p>
          <a:p>
            <a:r>
              <a:rPr lang="en-IN" dirty="0"/>
              <a:t>However all the methods worked relatively well</a:t>
            </a:r>
          </a:p>
        </p:txBody>
      </p:sp>
    </p:spTree>
    <p:extLst>
      <p:ext uri="{BB962C8B-B14F-4D97-AF65-F5344CB8AC3E}">
        <p14:creationId xmlns:p14="http://schemas.microsoft.com/office/powerpoint/2010/main" val="1832084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8910-0462-A233-1438-BF53AD5F6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94765-239A-FFD4-813E-5655E7093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Linear regression bets on the data being linearly related. We need to improve and test with </a:t>
            </a:r>
            <a:r>
              <a:rPr lang="en-IN"/>
              <a:t>better models</a:t>
            </a:r>
            <a:endParaRPr lang="en-IN" dirty="0"/>
          </a:p>
          <a:p>
            <a:r>
              <a:rPr lang="en-IN" dirty="0"/>
              <a:t>Test:</a:t>
            </a:r>
          </a:p>
          <a:p>
            <a:pPr lvl="1"/>
            <a:r>
              <a:rPr lang="en-IN" dirty="0"/>
              <a:t>Polynomial regression </a:t>
            </a:r>
          </a:p>
          <a:p>
            <a:pPr lvl="1"/>
            <a:r>
              <a:rPr lang="en-IN" dirty="0"/>
              <a:t>Gradient boosting</a:t>
            </a:r>
          </a:p>
          <a:p>
            <a:pPr lvl="1"/>
            <a:r>
              <a:rPr lang="en-IN" dirty="0"/>
              <a:t>LSTM</a:t>
            </a:r>
          </a:p>
        </p:txBody>
      </p:sp>
    </p:spTree>
    <p:extLst>
      <p:ext uri="{BB962C8B-B14F-4D97-AF65-F5344CB8AC3E}">
        <p14:creationId xmlns:p14="http://schemas.microsoft.com/office/powerpoint/2010/main" val="3441247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661</Words>
  <Application>Microsoft Office PowerPoint</Application>
  <PresentationFormat>Widescreen</PresentationFormat>
  <Paragraphs>76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PM2.5 prediction</vt:lpstr>
      <vt:lpstr>Details</vt:lpstr>
      <vt:lpstr>Data visualizations and analysis</vt:lpstr>
      <vt:lpstr>Analysis of missing data</vt:lpstr>
      <vt:lpstr>Performing cleaning methods, comparison</vt:lpstr>
      <vt:lpstr>Performing cleaning methods, comparison</vt:lpstr>
      <vt:lpstr>Cleaning methods, comparison</vt:lpstr>
      <vt:lpstr>Data Quality by Station:</vt:lpstr>
      <vt:lpstr>Feature correlation</vt:lpstr>
      <vt:lpstr>Feature correlation</vt:lpstr>
      <vt:lpstr>PM2.5 Patterns over period of time</vt:lpstr>
      <vt:lpstr>PM2.5 average patterns over seasons</vt:lpstr>
      <vt:lpstr>Average PM2.5 for each hour of the day</vt:lpstr>
      <vt:lpstr>PM2.5 average over each day of the week</vt:lpstr>
      <vt:lpstr>Linear Regression Results (MAE)</vt:lpstr>
      <vt:lpstr>Linear Regression Results (RMSE)</vt:lpstr>
      <vt:lpstr>Linear Regression Results (R2)</vt:lpstr>
      <vt:lpstr>Linear Regression Results Analysis</vt:lpstr>
      <vt:lpstr>Ouput (Prediction vs Actual)</vt:lpstr>
      <vt:lpstr>Cleaning method prediction comparisons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Nambiar</dc:creator>
  <cp:lastModifiedBy>Pranav Nambiar</cp:lastModifiedBy>
  <cp:revision>2</cp:revision>
  <dcterms:created xsi:type="dcterms:W3CDTF">2025-02-06T14:55:49Z</dcterms:created>
  <dcterms:modified xsi:type="dcterms:W3CDTF">2025-02-06T17:42:50Z</dcterms:modified>
</cp:coreProperties>
</file>